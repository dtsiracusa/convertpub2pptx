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304" r:id="rId5"/>
    <p:sldId id="258" r:id="rId6"/>
    <p:sldId id="260" r:id="rId7"/>
    <p:sldId id="261" r:id="rId8"/>
    <p:sldId id="264" r:id="rId9"/>
    <p:sldId id="306" r:id="rId10"/>
    <p:sldId id="265" r:id="rId11"/>
    <p:sldId id="266" r:id="rId12"/>
    <p:sldId id="267" r:id="rId13"/>
    <p:sldId id="308" r:id="rId14"/>
    <p:sldId id="309" r:id="rId15"/>
    <p:sldId id="262" r:id="rId16"/>
    <p:sldId id="268" r:id="rId17"/>
    <p:sldId id="269" r:id="rId18"/>
    <p:sldId id="270" r:id="rId19"/>
    <p:sldId id="312" r:id="rId20"/>
    <p:sldId id="305" r:id="rId21"/>
    <p:sldId id="310" r:id="rId22"/>
    <p:sldId id="311" r:id="rId23"/>
    <p:sldId id="314" r:id="rId24"/>
    <p:sldId id="263" r:id="rId25"/>
    <p:sldId id="313" r:id="rId26"/>
    <p:sldId id="271" r:id="rId27"/>
    <p:sldId id="316" r:id="rId28"/>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08" autoAdjust="0"/>
    <p:restoredTop sz="94660"/>
  </p:normalViewPr>
  <p:slideViewPr>
    <p:cSldViewPr snapToGrid="0">
      <p:cViewPr varScale="1">
        <p:scale>
          <a:sx n="73" d="100"/>
          <a:sy n="73" d="100"/>
        </p:scale>
        <p:origin x="315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D6CC1B-7020-479F-9922-43EB6670AFEF}" type="datetimeFigureOut">
              <a:rPr lang="en-US" smtClean="0"/>
              <a:t>6/16/2026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99382-8501-43DD-BDBD-33450C2A3672}" type="slidenum">
              <a:rPr lang="en-US" smtClean="0"/>
              <a:t>‹#›</a:t>
            </a:fld>
            <a:endParaRPr lang="en-US"/>
          </a:p>
        </p:txBody>
      </p:sp>
    </p:spTree>
    <p:extLst>
      <p:ext uri="{BB962C8B-B14F-4D97-AF65-F5344CB8AC3E}">
        <p14:creationId xmlns:p14="http://schemas.microsoft.com/office/powerpoint/2010/main" val="253145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9D858D-6FDD-41F9-B008-0F464BBD1E03}"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205108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7B4CDD-9803-439D-A581-CD80C58F351D}"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1465309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6864C8-7FAC-4E69-861E-67260612DF02}"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2028284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943690-1925-46F6-8DB1-83E092F5682A}"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1034444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E5800C-895F-43DC-9994-7C5DA967DEE4}" type="datetime1">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497710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6EA049-B189-4CE3-8215-3D20C1C8C45A}" type="datetime1">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74353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071E84-E61B-445D-8114-FAEB0508307A}" type="datetime1">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E2C916-6F1E-4075-B034-0F55610526B3}" type="slidenum">
              <a:rPr lang="en-US" smtClean="0"/>
              <a:t>‹#›</a:t>
            </a:fld>
            <a:endParaRPr lang="en-US"/>
          </a:p>
        </p:txBody>
      </p:sp>
      <p:pic>
        <p:nvPicPr>
          <p:cNvPr id="5" name="ToC Icon" descr="A black background with a black square&#10;&#10;Description automatically generated with medium confidence">
            <a:hlinkClick r:id="rId2" action="ppaction://hlinksldjump"/>
            <a:extLst>
              <a:ext uri="{FF2B5EF4-FFF2-40B4-BE49-F238E27FC236}">
                <a16:creationId xmlns:a16="http://schemas.microsoft.com/office/drawing/2014/main" id="{D0543753-8A13-2753-3E30-9553011936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4353" y="9272056"/>
            <a:ext cx="586110" cy="586110"/>
          </a:xfrm>
          <a:prstGeom prst="rect">
            <a:avLst/>
          </a:prstGeom>
        </p:spPr>
      </p:pic>
    </p:spTree>
    <p:extLst>
      <p:ext uri="{BB962C8B-B14F-4D97-AF65-F5344CB8AC3E}">
        <p14:creationId xmlns:p14="http://schemas.microsoft.com/office/powerpoint/2010/main" val="435986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D811BD7C-D4AC-465F-AA85-D9F82E468CA5}"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3587204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B718EF15-F1AE-4360-9015-4FF83A3C7D16}"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12504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A4BAF5-5917-4855-B889-42BD154B2D67}"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3487901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023E60-E29D-49E3-A64D-96E294D089FF}"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E2C916-6F1E-4075-B034-0F55610526B3}" type="slidenum">
              <a:rPr lang="en-US" smtClean="0"/>
              <a:t>‹#›</a:t>
            </a:fld>
            <a:endParaRPr lang="en-US"/>
          </a:p>
        </p:txBody>
      </p:sp>
    </p:spTree>
    <p:extLst>
      <p:ext uri="{BB962C8B-B14F-4D97-AF65-F5344CB8AC3E}">
        <p14:creationId xmlns:p14="http://schemas.microsoft.com/office/powerpoint/2010/main" val="4273416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4CE1A9B1-58AA-9020-EBC8-2538614E8DBA}"/>
              </a:ext>
            </a:extLst>
          </p:cNvPr>
          <p:cNvSpPr txBox="1">
            <a:spLocks noChangeArrowheads="1"/>
          </p:cNvSpPr>
          <p:nvPr userDrawn="1"/>
        </p:nvSpPr>
        <p:spPr bwMode="auto">
          <a:xfrm>
            <a:off x="0" y="6052457"/>
            <a:ext cx="7772400" cy="1925231"/>
          </a:xfrm>
          <a:prstGeom prst="rect">
            <a:avLst/>
          </a:prstGeom>
          <a:blipFill dpi="0" rotWithShape="1">
            <a:blip r:embed="rId2"/>
            <a:srcRect/>
            <a:tile tx="0" ty="0" sx="100000" sy="100000" flip="none" algn="tl"/>
          </a:blipFill>
          <a:ln w="9525" algn="in">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36576" tIns="365760" rIns="36576" bIns="36576"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rade Gothic Next" panose="020F0502020204030204" pitchFamily="34" charset="0"/>
            </a:endParaRPr>
          </a:p>
        </p:txBody>
      </p:sp>
      <p:pic>
        <p:nvPicPr>
          <p:cNvPr id="5" name="Picture 4" descr="Qr code&#10;&#10;Description automatically generated with medium confidence">
            <a:extLst>
              <a:ext uri="{FF2B5EF4-FFF2-40B4-BE49-F238E27FC236}">
                <a16:creationId xmlns:a16="http://schemas.microsoft.com/office/drawing/2014/main" id="{6EF15CC4-1D39-1B4C-A2C1-3FBF3F7D87B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 y="2727823"/>
            <a:ext cx="5943600" cy="1496695"/>
          </a:xfrm>
          <a:prstGeom prst="rect">
            <a:avLst/>
          </a:prstGeom>
        </p:spPr>
      </p:pic>
      <p:sp>
        <p:nvSpPr>
          <p:cNvPr id="12" name="Text Placeholder 11">
            <a:extLst>
              <a:ext uri="{FF2B5EF4-FFF2-40B4-BE49-F238E27FC236}">
                <a16:creationId xmlns:a16="http://schemas.microsoft.com/office/drawing/2014/main" id="{9BC3F231-CFE1-F6D5-8358-33098AA553E8}"/>
              </a:ext>
            </a:extLst>
          </p:cNvPr>
          <p:cNvSpPr>
            <a:spLocks noGrp="1"/>
          </p:cNvSpPr>
          <p:nvPr>
            <p:ph type="body" sz="quarter" idx="10" hasCustomPrompt="1"/>
          </p:nvPr>
        </p:nvSpPr>
        <p:spPr>
          <a:xfrm>
            <a:off x="0" y="6052457"/>
            <a:ext cx="7772400" cy="1925231"/>
          </a:xfrm>
          <a:prstGeom prst="rect">
            <a:avLst/>
          </a:prstGeom>
        </p:spPr>
        <p:txBody>
          <a:bodyPr anchor="ctr"/>
          <a:lstStyle>
            <a:lvl1pPr>
              <a:defRPr/>
            </a:lvl1pPr>
            <a:lvl2pPr marL="388620" indent="0">
              <a:buNone/>
              <a:defRPr/>
            </a:lvl2pPr>
          </a:lstStyle>
          <a:p>
            <a:pPr lvl="0"/>
            <a:r>
              <a:rPr lang="en-US" dirty="0"/>
              <a:t>Exploded View</a:t>
            </a:r>
          </a:p>
          <a:p>
            <a:pPr lvl="0"/>
            <a:r>
              <a:rPr lang="en-US" dirty="0" err="1"/>
              <a:t>InsertProductName</a:t>
            </a:r>
            <a:r>
              <a:rPr lang="en-US" dirty="0"/>
              <a:t> Here</a:t>
            </a:r>
          </a:p>
        </p:txBody>
      </p:sp>
    </p:spTree>
    <p:extLst>
      <p:ext uri="{BB962C8B-B14F-4D97-AF65-F5344CB8AC3E}">
        <p14:creationId xmlns:p14="http://schemas.microsoft.com/office/powerpoint/2010/main" val="3887473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D563E7C8-9A7B-46CE-8711-74B90F932310}" type="datetime1">
              <a:rPr lang="en-US" smtClean="0"/>
              <a:t>6/16/2026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3DE2C916-6F1E-4075-B034-0F55610526B3}" type="slidenum">
              <a:rPr lang="en-US" smtClean="0"/>
              <a:t>‹#›</a:t>
            </a:fld>
            <a:endParaRPr lang="en-US" dirty="0"/>
          </a:p>
        </p:txBody>
      </p:sp>
    </p:spTree>
    <p:extLst>
      <p:ext uri="{BB962C8B-B14F-4D97-AF65-F5344CB8AC3E}">
        <p14:creationId xmlns:p14="http://schemas.microsoft.com/office/powerpoint/2010/main" val="2915652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24.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17.xml"/><Relationship Id="rId5" Type="http://schemas.openxmlformats.org/officeDocument/2006/relationships/slide" Target="slide21.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github.com/dtsiracusa/ConvertPUB2PPTX/raw/main/Conv2PPTX.zip" TargetMode="Externa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sauder.sharepoint.com/sites/wielandbu/_layouts/15/embed.aspx?UniqueId=40ad879b-3792-4ef0-8e89-38a3e95cb76f&amp;embed=%7B%22ust%22%3Atrue%2C%22hv%22%3A%22CopyEmbedCode%22%7D&amp;referrer=StreamWebApp&amp;referrerScenario=EmbedDialog.Create" TargetMode="External"/><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hyperlink" Target="https://sauder.sharepoint.com/:u:/r/sites/wielandbu/Shared%20Documents/Engineering/Projects%20%26%20Plans/Automation%20Projects/Convert%20PUB%20Files/Step1-DetectFiles.py?download=1"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BCE7B8-20E9-78DA-2F68-6463A4E2499B}"/>
              </a:ext>
            </a:extLst>
          </p:cNvPr>
          <p:cNvSpPr>
            <a:spLocks noGrp="1"/>
          </p:cNvSpPr>
          <p:nvPr>
            <p:ph type="body" sz="quarter" idx="10"/>
          </p:nvPr>
        </p:nvSpPr>
        <p:spPr/>
        <p:txBody>
          <a:bodyPr>
            <a:normAutofit/>
          </a:bodyPr>
          <a:lstStyle/>
          <a:p>
            <a:pPr marL="0" indent="0" algn="ctr">
              <a:buNone/>
            </a:pPr>
            <a:r>
              <a:rPr lang="en-US" sz="3000" b="1" dirty="0">
                <a:latin typeface="Tahoma" panose="020B0604030504040204" pitchFamily="34" charset="0"/>
                <a:ea typeface="Tahoma" panose="020B0604030504040204" pitchFamily="34" charset="0"/>
                <a:cs typeface="Tahoma" panose="020B0604030504040204" pitchFamily="34" charset="0"/>
              </a:rPr>
              <a:t>Publisher to PowerPoint Python Script Documentation</a:t>
            </a:r>
          </a:p>
        </p:txBody>
      </p:sp>
    </p:spTree>
    <p:extLst>
      <p:ext uri="{BB962C8B-B14F-4D97-AF65-F5344CB8AC3E}">
        <p14:creationId xmlns:p14="http://schemas.microsoft.com/office/powerpoint/2010/main" val="2070264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D349-50CA-1C8A-5CDE-C7E4CF12DA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A3A85E-41AD-1715-EFC1-E75594CEB58D}"/>
              </a:ext>
            </a:extLst>
          </p:cNvPr>
          <p:cNvSpPr txBox="1"/>
          <p:nvPr/>
        </p:nvSpPr>
        <p:spPr>
          <a:xfrm>
            <a:off x="0" y="253218"/>
            <a:ext cx="7772400" cy="646331"/>
          </a:xfrm>
          <a:prstGeom prst="rect">
            <a:avLst/>
          </a:prstGeom>
          <a:noFill/>
        </p:spPr>
        <p:txBody>
          <a:bodyPr wrap="square" rtlCol="0">
            <a:spAutoFit/>
          </a:bodyPr>
          <a:lstStyle/>
          <a:p>
            <a:pPr algn="ctr"/>
            <a:r>
              <a:rPr lang="en-US" sz="3600" b="1" dirty="0"/>
              <a:t>Table of Contents</a:t>
            </a:r>
          </a:p>
        </p:txBody>
      </p:sp>
      <p:sp>
        <p:nvSpPr>
          <p:cNvPr id="4" name="Slide Number Placeholder 3">
            <a:extLst>
              <a:ext uri="{FF2B5EF4-FFF2-40B4-BE49-F238E27FC236}">
                <a16:creationId xmlns:a16="http://schemas.microsoft.com/office/drawing/2014/main" id="{31D45794-AF37-013C-78ED-7ED211F44C2D}"/>
              </a:ext>
            </a:extLst>
          </p:cNvPr>
          <p:cNvSpPr>
            <a:spLocks noGrp="1"/>
          </p:cNvSpPr>
          <p:nvPr>
            <p:ph type="sldNum" sz="quarter" idx="12"/>
          </p:nvPr>
        </p:nvSpPr>
        <p:spPr/>
        <p:txBody>
          <a:bodyPr/>
          <a:lstStyle/>
          <a:p>
            <a:fld id="{3DE2C916-6F1E-4075-B034-0F55610526B3}" type="slidenum">
              <a:rPr lang="en-US" smtClean="0"/>
              <a:t>2</a:t>
            </a:fld>
            <a:endParaRPr lang="en-US"/>
          </a:p>
        </p:txBody>
      </p:sp>
      <p:sp>
        <p:nvSpPr>
          <p:cNvPr id="6" name="Oval 5">
            <a:extLst>
              <a:ext uri="{FF2B5EF4-FFF2-40B4-BE49-F238E27FC236}">
                <a16:creationId xmlns:a16="http://schemas.microsoft.com/office/drawing/2014/main" id="{00C4556A-350D-33BA-BDED-B50A676D5A16}"/>
              </a:ext>
            </a:extLst>
          </p:cNvPr>
          <p:cNvSpPr/>
          <p:nvPr/>
        </p:nvSpPr>
        <p:spPr>
          <a:xfrm>
            <a:off x="412016" y="9159875"/>
            <a:ext cx="838934" cy="81153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827FF4E-0BC5-28F3-F569-34960ED4E4BB}"/>
              </a:ext>
            </a:extLst>
          </p:cNvPr>
          <p:cNvCxnSpPr>
            <a:cxnSpLocks/>
            <a:stCxn id="11" idx="2"/>
            <a:endCxn id="6" idx="7"/>
          </p:cNvCxnSpPr>
          <p:nvPr/>
        </p:nvCxnSpPr>
        <p:spPr>
          <a:xfrm flipH="1">
            <a:off x="1128091" y="8837831"/>
            <a:ext cx="654989" cy="44089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6DE6320-0366-9137-CB46-BB820E7AC567}"/>
              </a:ext>
            </a:extLst>
          </p:cNvPr>
          <p:cNvSpPr txBox="1"/>
          <p:nvPr/>
        </p:nvSpPr>
        <p:spPr>
          <a:xfrm>
            <a:off x="386080" y="8191500"/>
            <a:ext cx="2794000" cy="646331"/>
          </a:xfrm>
          <a:prstGeom prst="rect">
            <a:avLst/>
          </a:prstGeom>
          <a:noFill/>
          <a:ln w="38100">
            <a:solidFill>
              <a:srgbClr val="FF0000"/>
            </a:solidFill>
          </a:ln>
        </p:spPr>
        <p:txBody>
          <a:bodyPr wrap="square" rtlCol="0">
            <a:spAutoFit/>
          </a:bodyPr>
          <a:lstStyle/>
          <a:p>
            <a:r>
              <a:rPr lang="en-US" dirty="0"/>
              <a:t>Click this icon to navigate to </a:t>
            </a:r>
            <a:r>
              <a:rPr lang="en-US" i="1" dirty="0"/>
              <a:t>Table of Contents </a:t>
            </a:r>
            <a:r>
              <a:rPr lang="en-US" dirty="0"/>
              <a:t>page</a:t>
            </a:r>
          </a:p>
        </p:txBody>
      </p:sp>
      <p:sp>
        <p:nvSpPr>
          <p:cNvPr id="3" name="TextBox 2">
            <a:hlinkClick r:id="rId2" action="ppaction://hlinksldjump"/>
            <a:extLst>
              <a:ext uri="{FF2B5EF4-FFF2-40B4-BE49-F238E27FC236}">
                <a16:creationId xmlns:a16="http://schemas.microsoft.com/office/drawing/2014/main" id="{2192CE6F-C6DF-E587-88B5-43246EDC898F}"/>
              </a:ext>
            </a:extLst>
          </p:cNvPr>
          <p:cNvSpPr txBox="1"/>
          <p:nvPr/>
        </p:nvSpPr>
        <p:spPr>
          <a:xfrm>
            <a:off x="412016" y="1333603"/>
            <a:ext cx="7000240" cy="467885"/>
          </a:xfrm>
          <a:prstGeom prst="rect">
            <a:avLst/>
          </a:prstGeom>
          <a:noFill/>
        </p:spPr>
        <p:txBody>
          <a:bodyPr wrap="square" rtlCol="0">
            <a:spAutoFit/>
          </a:bodyPr>
          <a:lstStyle/>
          <a:p>
            <a:pPr>
              <a:lnSpc>
                <a:spcPct val="150000"/>
              </a:lnSpc>
            </a:pPr>
            <a:r>
              <a:rPr lang="en-US" dirty="0"/>
              <a:t>Script Purpose &amp; Functionality ..........................................................</a:t>
            </a:r>
          </a:p>
        </p:txBody>
      </p:sp>
      <p:sp>
        <p:nvSpPr>
          <p:cNvPr id="8" name="TextBox 7">
            <a:hlinkClick r:id="rId3" action="ppaction://hlinksldjump"/>
            <a:extLst>
              <a:ext uri="{FF2B5EF4-FFF2-40B4-BE49-F238E27FC236}">
                <a16:creationId xmlns:a16="http://schemas.microsoft.com/office/drawing/2014/main" id="{85DDE554-5FAF-69F7-E0AD-EEFAE31F3766}"/>
              </a:ext>
            </a:extLst>
          </p:cNvPr>
          <p:cNvSpPr txBox="1"/>
          <p:nvPr/>
        </p:nvSpPr>
        <p:spPr>
          <a:xfrm>
            <a:off x="413431" y="1954974"/>
            <a:ext cx="7000240" cy="467885"/>
          </a:xfrm>
          <a:prstGeom prst="rect">
            <a:avLst/>
          </a:prstGeom>
          <a:noFill/>
        </p:spPr>
        <p:txBody>
          <a:bodyPr wrap="square">
            <a:spAutoFit/>
          </a:bodyPr>
          <a:lstStyle/>
          <a:p>
            <a:pPr>
              <a:lnSpc>
                <a:spcPct val="150000"/>
              </a:lnSpc>
            </a:pPr>
            <a:r>
              <a:rPr lang="en-US" dirty="0"/>
              <a:t>How to Install &amp; Run Demo .............................................................</a:t>
            </a:r>
          </a:p>
        </p:txBody>
      </p:sp>
      <p:sp>
        <p:nvSpPr>
          <p:cNvPr id="12" name="TextBox 11">
            <a:hlinkClick r:id="rId4" action="ppaction://hlinksldjump"/>
            <a:extLst>
              <a:ext uri="{FF2B5EF4-FFF2-40B4-BE49-F238E27FC236}">
                <a16:creationId xmlns:a16="http://schemas.microsoft.com/office/drawing/2014/main" id="{2D4388D9-DBB1-7F32-ECE1-968DE027AD25}"/>
              </a:ext>
            </a:extLst>
          </p:cNvPr>
          <p:cNvSpPr txBox="1"/>
          <p:nvPr/>
        </p:nvSpPr>
        <p:spPr>
          <a:xfrm>
            <a:off x="413431" y="2576345"/>
            <a:ext cx="7000240" cy="467885"/>
          </a:xfrm>
          <a:prstGeom prst="rect">
            <a:avLst/>
          </a:prstGeom>
          <a:noFill/>
        </p:spPr>
        <p:txBody>
          <a:bodyPr wrap="square">
            <a:spAutoFit/>
          </a:bodyPr>
          <a:lstStyle/>
          <a:p>
            <a:pPr>
              <a:lnSpc>
                <a:spcPct val="150000"/>
              </a:lnSpc>
            </a:pPr>
            <a:r>
              <a:rPr lang="en-US" dirty="0"/>
              <a:t>Set Up for Task Scheduler .................................................................</a:t>
            </a:r>
          </a:p>
        </p:txBody>
      </p:sp>
      <p:sp>
        <p:nvSpPr>
          <p:cNvPr id="14" name="TextBox 13">
            <a:hlinkClick r:id="rId5" action="ppaction://hlinksldjump"/>
            <a:extLst>
              <a:ext uri="{FF2B5EF4-FFF2-40B4-BE49-F238E27FC236}">
                <a16:creationId xmlns:a16="http://schemas.microsoft.com/office/drawing/2014/main" id="{E806FB98-D406-754D-D53B-7C33152C7B66}"/>
              </a:ext>
            </a:extLst>
          </p:cNvPr>
          <p:cNvSpPr txBox="1"/>
          <p:nvPr/>
        </p:nvSpPr>
        <p:spPr>
          <a:xfrm>
            <a:off x="413431" y="3819087"/>
            <a:ext cx="7000240" cy="467885"/>
          </a:xfrm>
          <a:prstGeom prst="rect">
            <a:avLst/>
          </a:prstGeom>
          <a:noFill/>
        </p:spPr>
        <p:txBody>
          <a:bodyPr wrap="square">
            <a:spAutoFit/>
          </a:bodyPr>
          <a:lstStyle/>
          <a:p>
            <a:pPr>
              <a:lnSpc>
                <a:spcPct val="150000"/>
              </a:lnSpc>
            </a:pPr>
            <a:r>
              <a:rPr lang="en-US" dirty="0"/>
              <a:t>Troubleshooting ...............................................................................</a:t>
            </a:r>
          </a:p>
        </p:txBody>
      </p:sp>
      <p:sp>
        <p:nvSpPr>
          <p:cNvPr id="23" name="TextBox 22">
            <a:extLst>
              <a:ext uri="{FF2B5EF4-FFF2-40B4-BE49-F238E27FC236}">
                <a16:creationId xmlns:a16="http://schemas.microsoft.com/office/drawing/2014/main" id="{3922B6C6-E863-A850-7EC0-A7AC463A1631}"/>
              </a:ext>
            </a:extLst>
          </p:cNvPr>
          <p:cNvSpPr txBox="1"/>
          <p:nvPr/>
        </p:nvSpPr>
        <p:spPr>
          <a:xfrm>
            <a:off x="1504144" y="665606"/>
            <a:ext cx="4764112" cy="467885"/>
          </a:xfrm>
          <a:prstGeom prst="rect">
            <a:avLst/>
          </a:prstGeom>
          <a:noFill/>
        </p:spPr>
        <p:txBody>
          <a:bodyPr wrap="square" rtlCol="0">
            <a:spAutoFit/>
          </a:bodyPr>
          <a:lstStyle/>
          <a:p>
            <a:pPr algn="ctr">
              <a:lnSpc>
                <a:spcPct val="150000"/>
              </a:lnSpc>
            </a:pPr>
            <a:r>
              <a:rPr lang="en-US" dirty="0"/>
              <a:t>Click each header to navigate to that section</a:t>
            </a:r>
          </a:p>
        </p:txBody>
      </p:sp>
      <p:sp>
        <p:nvSpPr>
          <p:cNvPr id="5" name="TextBox 4">
            <a:hlinkClick r:id="rId6" action="ppaction://hlinksldjump"/>
            <a:extLst>
              <a:ext uri="{FF2B5EF4-FFF2-40B4-BE49-F238E27FC236}">
                <a16:creationId xmlns:a16="http://schemas.microsoft.com/office/drawing/2014/main" id="{48516B09-8234-903E-4E69-FB445F078A07}"/>
              </a:ext>
            </a:extLst>
          </p:cNvPr>
          <p:cNvSpPr txBox="1"/>
          <p:nvPr/>
        </p:nvSpPr>
        <p:spPr>
          <a:xfrm>
            <a:off x="413431" y="3197716"/>
            <a:ext cx="7000240" cy="467885"/>
          </a:xfrm>
          <a:prstGeom prst="rect">
            <a:avLst/>
          </a:prstGeom>
          <a:noFill/>
        </p:spPr>
        <p:txBody>
          <a:bodyPr wrap="square">
            <a:spAutoFit/>
          </a:bodyPr>
          <a:lstStyle/>
          <a:p>
            <a:pPr>
              <a:lnSpc>
                <a:spcPct val="150000"/>
              </a:lnSpc>
            </a:pPr>
            <a:r>
              <a:rPr lang="en-US" dirty="0"/>
              <a:t>Set Up Desktop Shortcut ..................................................................</a:t>
            </a:r>
          </a:p>
        </p:txBody>
      </p:sp>
      <p:sp>
        <p:nvSpPr>
          <p:cNvPr id="7" name="TextBox 6">
            <a:hlinkClick r:id="rId7" action="ppaction://hlinksldjump"/>
            <a:extLst>
              <a:ext uri="{FF2B5EF4-FFF2-40B4-BE49-F238E27FC236}">
                <a16:creationId xmlns:a16="http://schemas.microsoft.com/office/drawing/2014/main" id="{C994A85B-1335-F88E-4A6D-9C316CD19ED0}"/>
              </a:ext>
            </a:extLst>
          </p:cNvPr>
          <p:cNvSpPr txBox="1"/>
          <p:nvPr/>
        </p:nvSpPr>
        <p:spPr>
          <a:xfrm>
            <a:off x="412016" y="4440457"/>
            <a:ext cx="7000240" cy="467885"/>
          </a:xfrm>
          <a:prstGeom prst="rect">
            <a:avLst/>
          </a:prstGeom>
          <a:noFill/>
        </p:spPr>
        <p:txBody>
          <a:bodyPr wrap="square">
            <a:spAutoFit/>
          </a:bodyPr>
          <a:lstStyle/>
          <a:p>
            <a:pPr>
              <a:lnSpc>
                <a:spcPct val="150000"/>
              </a:lnSpc>
            </a:pPr>
            <a:r>
              <a:rPr lang="en-US" dirty="0"/>
              <a:t>Changelog .......................................................................................</a:t>
            </a:r>
          </a:p>
        </p:txBody>
      </p:sp>
    </p:spTree>
    <p:extLst>
      <p:ext uri="{BB962C8B-B14F-4D97-AF65-F5344CB8AC3E}">
        <p14:creationId xmlns:p14="http://schemas.microsoft.com/office/powerpoint/2010/main" val="455011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C4CF-F3C0-A014-37E8-868AE004B9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4DE537-2E16-70F1-A30B-6D598B1EAAF0}"/>
              </a:ext>
            </a:extLst>
          </p:cNvPr>
          <p:cNvSpPr txBox="1"/>
          <p:nvPr/>
        </p:nvSpPr>
        <p:spPr>
          <a:xfrm>
            <a:off x="0" y="253218"/>
            <a:ext cx="7772400" cy="646331"/>
          </a:xfrm>
          <a:prstGeom prst="rect">
            <a:avLst/>
          </a:prstGeom>
          <a:noFill/>
        </p:spPr>
        <p:txBody>
          <a:bodyPr wrap="square" rtlCol="0">
            <a:spAutoFit/>
          </a:bodyPr>
          <a:lstStyle/>
          <a:p>
            <a:pPr algn="ctr"/>
            <a:r>
              <a:rPr lang="en-US" sz="3600" b="1" dirty="0"/>
              <a:t>Script Purpose and Functionality</a:t>
            </a:r>
          </a:p>
        </p:txBody>
      </p:sp>
      <p:sp>
        <p:nvSpPr>
          <p:cNvPr id="3" name="Slide Number Placeholder 2">
            <a:extLst>
              <a:ext uri="{FF2B5EF4-FFF2-40B4-BE49-F238E27FC236}">
                <a16:creationId xmlns:a16="http://schemas.microsoft.com/office/drawing/2014/main" id="{C8395CF4-5BCA-5331-D88C-00ECFB9C2AFE}"/>
              </a:ext>
            </a:extLst>
          </p:cNvPr>
          <p:cNvSpPr>
            <a:spLocks noGrp="1"/>
          </p:cNvSpPr>
          <p:nvPr>
            <p:ph type="sldNum" sz="quarter" idx="12"/>
          </p:nvPr>
        </p:nvSpPr>
        <p:spPr/>
        <p:txBody>
          <a:bodyPr/>
          <a:lstStyle/>
          <a:p>
            <a:fld id="{3DE2C916-6F1E-4075-B034-0F55610526B3}" type="slidenum">
              <a:rPr lang="en-US" smtClean="0"/>
              <a:t>3</a:t>
            </a:fld>
            <a:endParaRPr lang="en-US"/>
          </a:p>
        </p:txBody>
      </p:sp>
      <p:sp>
        <p:nvSpPr>
          <p:cNvPr id="4" name="TextBox 3">
            <a:extLst>
              <a:ext uri="{FF2B5EF4-FFF2-40B4-BE49-F238E27FC236}">
                <a16:creationId xmlns:a16="http://schemas.microsoft.com/office/drawing/2014/main" id="{825445B1-CF59-1BCF-E357-950CB552712E}"/>
              </a:ext>
            </a:extLst>
          </p:cNvPr>
          <p:cNvSpPr txBox="1"/>
          <p:nvPr/>
        </p:nvSpPr>
        <p:spPr>
          <a:xfrm>
            <a:off x="342900" y="1016504"/>
            <a:ext cx="7150100" cy="5078313"/>
          </a:xfrm>
          <a:prstGeom prst="rect">
            <a:avLst/>
          </a:prstGeom>
          <a:noFill/>
        </p:spPr>
        <p:txBody>
          <a:bodyPr wrap="square" rtlCol="0">
            <a:spAutoFit/>
          </a:bodyPr>
          <a:lstStyle/>
          <a:p>
            <a:r>
              <a:rPr lang="en-US" i="1" dirty="0"/>
              <a:t>Why was this tool/script made?</a:t>
            </a:r>
          </a:p>
          <a:p>
            <a:r>
              <a:rPr lang="en-US" dirty="0"/>
              <a:t>	In the wake of Publisher being obsoleted come October 2026, a solution was needed to “convert” these files from Publisher to another editable format. Other online means and tools were explored but nothing yielded the desired results. Therefore, this tool was made.</a:t>
            </a:r>
            <a:br>
              <a:rPr lang="en-US" dirty="0"/>
            </a:br>
            <a:endParaRPr lang="en-US" dirty="0"/>
          </a:p>
          <a:p>
            <a:r>
              <a:rPr lang="en-US" i="1" dirty="0"/>
              <a:t>What does it do?</a:t>
            </a:r>
            <a:br>
              <a:rPr lang="en-US" dirty="0"/>
            </a:br>
            <a:r>
              <a:rPr lang="en-US" dirty="0"/>
              <a:t>	Effectively, it “looks” at a selected Publisher file and goes through page-by-page, asset-by-asset to “copy” the details and text as closely as possibly and paste it to a new PowerPoint file. Although still plagued with some needed fixes, </a:t>
            </a:r>
            <a:r>
              <a:rPr lang="en-US" b="1" i="1" dirty="0"/>
              <a:t>80% is still passable</a:t>
            </a:r>
            <a:r>
              <a:rPr lang="en-US" dirty="0"/>
              <a:t>.</a:t>
            </a:r>
            <a:br>
              <a:rPr lang="en-US" dirty="0"/>
            </a:br>
            <a:br>
              <a:rPr lang="en-US" dirty="0"/>
            </a:br>
            <a:r>
              <a:rPr lang="en-US" i="1" dirty="0"/>
              <a:t>Why should I use this over something else?</a:t>
            </a:r>
            <a:br>
              <a:rPr lang="en-US" dirty="0"/>
            </a:br>
            <a:r>
              <a:rPr lang="en-US" dirty="0"/>
              <a:t>	This tool is just the one made internally at Wieland/New Haven to satisfy our needs with the timeline we have. Should any alternative tools be presented then feel free to explore those. The intention with this tool is to preserve editability and spare anyone making SOPs from re-making them. </a:t>
            </a:r>
            <a:endParaRPr lang="en-US" i="1" dirty="0"/>
          </a:p>
        </p:txBody>
      </p:sp>
      <p:sp>
        <p:nvSpPr>
          <p:cNvPr id="5" name="TextBox 4">
            <a:extLst>
              <a:ext uri="{FF2B5EF4-FFF2-40B4-BE49-F238E27FC236}">
                <a16:creationId xmlns:a16="http://schemas.microsoft.com/office/drawing/2014/main" id="{C01B6706-626D-618C-685D-EE150C05F44F}"/>
              </a:ext>
            </a:extLst>
          </p:cNvPr>
          <p:cNvSpPr txBox="1"/>
          <p:nvPr/>
        </p:nvSpPr>
        <p:spPr>
          <a:xfrm>
            <a:off x="311150" y="7500643"/>
            <a:ext cx="7150100" cy="1200329"/>
          </a:xfrm>
          <a:prstGeom prst="rect">
            <a:avLst/>
          </a:prstGeom>
          <a:noFill/>
        </p:spPr>
        <p:txBody>
          <a:bodyPr wrap="square" rtlCol="0">
            <a:spAutoFit/>
          </a:bodyPr>
          <a:lstStyle/>
          <a:p>
            <a:r>
              <a:rPr lang="en-US" i="1" dirty="0"/>
              <a:t>This tool was a fun challenge, but very rewarding to see come to fruition. I will strive to support any and all tools I develop, and anyone brave enough to use them.</a:t>
            </a:r>
          </a:p>
          <a:p>
            <a:r>
              <a:rPr lang="en-US" i="1" dirty="0"/>
              <a:t>													- Dante</a:t>
            </a:r>
          </a:p>
        </p:txBody>
      </p:sp>
    </p:spTree>
    <p:extLst>
      <p:ext uri="{BB962C8B-B14F-4D97-AF65-F5344CB8AC3E}">
        <p14:creationId xmlns:p14="http://schemas.microsoft.com/office/powerpoint/2010/main" val="2514551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65459-A581-65C0-EE77-BEC05F17CF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C07244-CEC4-89A7-37BC-72B2E507565D}"/>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08D2E8A9-D4B9-B15E-BD73-BC3450CE7362}"/>
              </a:ext>
            </a:extLst>
          </p:cNvPr>
          <p:cNvSpPr>
            <a:spLocks noGrp="1"/>
          </p:cNvSpPr>
          <p:nvPr>
            <p:ph type="sldNum" sz="quarter" idx="12"/>
          </p:nvPr>
        </p:nvSpPr>
        <p:spPr/>
        <p:txBody>
          <a:bodyPr/>
          <a:lstStyle/>
          <a:p>
            <a:fld id="{3DE2C916-6F1E-4075-B034-0F55610526B3}" type="slidenum">
              <a:rPr lang="en-US" smtClean="0"/>
              <a:t>4</a:t>
            </a:fld>
            <a:endParaRPr lang="en-US"/>
          </a:p>
        </p:txBody>
      </p:sp>
      <p:pic>
        <p:nvPicPr>
          <p:cNvPr id="5" name="Graphic 4" descr="Folder with solid fill">
            <a:hlinkClick r:id="rId2"/>
            <a:extLst>
              <a:ext uri="{FF2B5EF4-FFF2-40B4-BE49-F238E27FC236}">
                <a16:creationId xmlns:a16="http://schemas.microsoft.com/office/drawing/2014/main" id="{42FD7A7C-2C51-048A-F9A6-D41C7E61F6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9005" y="1157263"/>
            <a:ext cx="1636028" cy="1636028"/>
          </a:xfrm>
          <a:prstGeom prst="rect">
            <a:avLst/>
          </a:prstGeom>
        </p:spPr>
      </p:pic>
      <p:sp>
        <p:nvSpPr>
          <p:cNvPr id="14" name="TextBox 13">
            <a:extLst>
              <a:ext uri="{FF2B5EF4-FFF2-40B4-BE49-F238E27FC236}">
                <a16:creationId xmlns:a16="http://schemas.microsoft.com/office/drawing/2014/main" id="{38DEF44F-BA9F-7208-8F0C-CE47215380FA}"/>
              </a:ext>
            </a:extLst>
          </p:cNvPr>
          <p:cNvSpPr txBox="1"/>
          <p:nvPr/>
        </p:nvSpPr>
        <p:spPr>
          <a:xfrm>
            <a:off x="272231" y="972597"/>
            <a:ext cx="7169577" cy="369332"/>
          </a:xfrm>
          <a:prstGeom prst="rect">
            <a:avLst/>
          </a:prstGeom>
          <a:noFill/>
        </p:spPr>
        <p:txBody>
          <a:bodyPr wrap="square">
            <a:spAutoFit/>
          </a:bodyPr>
          <a:lstStyle/>
          <a:p>
            <a:r>
              <a:rPr lang="en-US" dirty="0"/>
              <a:t>1. Click the folder icon below to download the .zip file.</a:t>
            </a:r>
            <a:endParaRPr lang="en-US" i="1" dirty="0"/>
          </a:p>
        </p:txBody>
      </p:sp>
      <p:sp>
        <p:nvSpPr>
          <p:cNvPr id="16" name="TextBox 15">
            <a:extLst>
              <a:ext uri="{FF2B5EF4-FFF2-40B4-BE49-F238E27FC236}">
                <a16:creationId xmlns:a16="http://schemas.microsoft.com/office/drawing/2014/main" id="{4C24D5B8-1A8A-0B42-C979-726BFF9BBC24}"/>
              </a:ext>
            </a:extLst>
          </p:cNvPr>
          <p:cNvSpPr txBox="1"/>
          <p:nvPr/>
        </p:nvSpPr>
        <p:spPr>
          <a:xfrm>
            <a:off x="301411" y="2645149"/>
            <a:ext cx="7169577" cy="369332"/>
          </a:xfrm>
          <a:prstGeom prst="rect">
            <a:avLst/>
          </a:prstGeom>
          <a:noFill/>
        </p:spPr>
        <p:txBody>
          <a:bodyPr wrap="square">
            <a:spAutoFit/>
          </a:bodyPr>
          <a:lstStyle/>
          <a:p>
            <a:r>
              <a:rPr lang="en-US" dirty="0"/>
              <a:t>2. Once downloaded use the “Extract All” command on the .zip file.</a:t>
            </a:r>
          </a:p>
        </p:txBody>
      </p:sp>
      <p:sp>
        <p:nvSpPr>
          <p:cNvPr id="21" name="TextBox 20">
            <a:extLst>
              <a:ext uri="{FF2B5EF4-FFF2-40B4-BE49-F238E27FC236}">
                <a16:creationId xmlns:a16="http://schemas.microsoft.com/office/drawing/2014/main" id="{21487068-B6E6-E01F-9896-A5BBCE75371E}"/>
              </a:ext>
            </a:extLst>
          </p:cNvPr>
          <p:cNvSpPr txBox="1"/>
          <p:nvPr/>
        </p:nvSpPr>
        <p:spPr>
          <a:xfrm>
            <a:off x="272231" y="7207717"/>
            <a:ext cx="7169577" cy="1477328"/>
          </a:xfrm>
          <a:prstGeom prst="rect">
            <a:avLst/>
          </a:prstGeom>
          <a:noFill/>
        </p:spPr>
        <p:txBody>
          <a:bodyPr wrap="square">
            <a:spAutoFit/>
          </a:bodyPr>
          <a:lstStyle/>
          <a:p>
            <a:r>
              <a:rPr lang="en-US" dirty="0"/>
              <a:t>3. Once extracted, It is recommended to move the new folder to the desired “work folder”</a:t>
            </a:r>
          </a:p>
          <a:p>
            <a:r>
              <a:rPr lang="en-US" dirty="0"/>
              <a:t>	- </a:t>
            </a:r>
            <a:r>
              <a:rPr lang="en-US" b="1" dirty="0"/>
              <a:t>TIP</a:t>
            </a:r>
            <a:r>
              <a:rPr lang="en-US" dirty="0"/>
              <a:t>: </a:t>
            </a:r>
            <a:r>
              <a:rPr lang="en-US" i="1" u="sng" dirty="0"/>
              <a:t>Don’t bury the folder deep in a network drive</a:t>
            </a:r>
            <a:r>
              <a:rPr lang="en-US" dirty="0"/>
              <a:t>, Windows has a file path character limit (206). Recommended on Desktop or high level on a network drive.</a:t>
            </a:r>
          </a:p>
        </p:txBody>
      </p:sp>
      <p:pic>
        <p:nvPicPr>
          <p:cNvPr id="6" name="Picture 5">
            <a:extLst>
              <a:ext uri="{FF2B5EF4-FFF2-40B4-BE49-F238E27FC236}">
                <a16:creationId xmlns:a16="http://schemas.microsoft.com/office/drawing/2014/main" id="{C363D1D3-DFDD-0FD7-FAE7-0E33AD1F8933}"/>
              </a:ext>
            </a:extLst>
          </p:cNvPr>
          <p:cNvPicPr>
            <a:picLocks noChangeAspect="1"/>
          </p:cNvPicPr>
          <p:nvPr/>
        </p:nvPicPr>
        <p:blipFill>
          <a:blip r:embed="rId4"/>
          <a:stretch>
            <a:fillRect/>
          </a:stretch>
        </p:blipFill>
        <p:spPr>
          <a:xfrm>
            <a:off x="1218729" y="3042207"/>
            <a:ext cx="5334939" cy="3973985"/>
          </a:xfrm>
          <a:prstGeom prst="rect">
            <a:avLst/>
          </a:prstGeom>
        </p:spPr>
      </p:pic>
      <p:pic>
        <p:nvPicPr>
          <p:cNvPr id="18" name="Graphic 17" descr="Cursor with solid fill">
            <a:extLst>
              <a:ext uri="{FF2B5EF4-FFF2-40B4-BE49-F238E27FC236}">
                <a16:creationId xmlns:a16="http://schemas.microsoft.com/office/drawing/2014/main" id="{3A45238A-F21A-EE3B-34A1-60D9096526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17833" y="5535165"/>
            <a:ext cx="914400" cy="914400"/>
          </a:xfrm>
          <a:prstGeom prst="rect">
            <a:avLst/>
          </a:prstGeom>
        </p:spPr>
      </p:pic>
    </p:spTree>
    <p:extLst>
      <p:ext uri="{BB962C8B-B14F-4D97-AF65-F5344CB8AC3E}">
        <p14:creationId xmlns:p14="http://schemas.microsoft.com/office/powerpoint/2010/main" val="2173645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FD9D0-D586-F6C1-05E3-22B58BA02AD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7961A65-B57C-1AAF-B153-EBA5827E7C62}"/>
              </a:ext>
            </a:extLst>
          </p:cNvPr>
          <p:cNvPicPr>
            <a:picLocks noChangeAspect="1"/>
          </p:cNvPicPr>
          <p:nvPr/>
        </p:nvPicPr>
        <p:blipFill>
          <a:blip r:embed="rId2"/>
          <a:stretch>
            <a:fillRect/>
          </a:stretch>
        </p:blipFill>
        <p:spPr>
          <a:xfrm>
            <a:off x="1728480" y="5824636"/>
            <a:ext cx="4477375" cy="3334215"/>
          </a:xfrm>
          <a:prstGeom prst="rect">
            <a:avLst/>
          </a:prstGeom>
        </p:spPr>
      </p:pic>
      <p:pic>
        <p:nvPicPr>
          <p:cNvPr id="5" name="Picture 4">
            <a:extLst>
              <a:ext uri="{FF2B5EF4-FFF2-40B4-BE49-F238E27FC236}">
                <a16:creationId xmlns:a16="http://schemas.microsoft.com/office/drawing/2014/main" id="{905A4633-D681-4D28-8A1E-6EEDC5B32F62}"/>
              </a:ext>
            </a:extLst>
          </p:cNvPr>
          <p:cNvPicPr>
            <a:picLocks noChangeAspect="1"/>
          </p:cNvPicPr>
          <p:nvPr/>
        </p:nvPicPr>
        <p:blipFill>
          <a:blip r:embed="rId3"/>
          <a:stretch>
            <a:fillRect/>
          </a:stretch>
        </p:blipFill>
        <p:spPr>
          <a:xfrm>
            <a:off x="1728480" y="2099878"/>
            <a:ext cx="4309272" cy="2831092"/>
          </a:xfrm>
          <a:prstGeom prst="rect">
            <a:avLst/>
          </a:prstGeom>
        </p:spPr>
      </p:pic>
      <p:sp>
        <p:nvSpPr>
          <p:cNvPr id="2" name="TextBox 1">
            <a:extLst>
              <a:ext uri="{FF2B5EF4-FFF2-40B4-BE49-F238E27FC236}">
                <a16:creationId xmlns:a16="http://schemas.microsoft.com/office/drawing/2014/main" id="{DDCF13B1-890F-09D4-B0A4-94E69AA9E4D9}"/>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9ACFB4DC-7770-9250-BEFA-9DB1CFD88A66}"/>
              </a:ext>
            </a:extLst>
          </p:cNvPr>
          <p:cNvSpPr>
            <a:spLocks noGrp="1"/>
          </p:cNvSpPr>
          <p:nvPr>
            <p:ph type="sldNum" sz="quarter" idx="12"/>
          </p:nvPr>
        </p:nvSpPr>
        <p:spPr/>
        <p:txBody>
          <a:bodyPr/>
          <a:lstStyle/>
          <a:p>
            <a:fld id="{3DE2C916-6F1E-4075-B034-0F55610526B3}" type="slidenum">
              <a:rPr lang="en-US" smtClean="0"/>
              <a:t>5</a:t>
            </a:fld>
            <a:endParaRPr lang="en-US"/>
          </a:p>
        </p:txBody>
      </p:sp>
      <p:sp>
        <p:nvSpPr>
          <p:cNvPr id="7" name="TextBox 6">
            <a:extLst>
              <a:ext uri="{FF2B5EF4-FFF2-40B4-BE49-F238E27FC236}">
                <a16:creationId xmlns:a16="http://schemas.microsoft.com/office/drawing/2014/main" id="{45DC659D-4624-83B7-5C43-E445D50123BA}"/>
              </a:ext>
            </a:extLst>
          </p:cNvPr>
          <p:cNvSpPr txBox="1"/>
          <p:nvPr/>
        </p:nvSpPr>
        <p:spPr>
          <a:xfrm>
            <a:off x="301411" y="899549"/>
            <a:ext cx="7169576" cy="1200329"/>
          </a:xfrm>
          <a:prstGeom prst="rect">
            <a:avLst/>
          </a:prstGeom>
          <a:noFill/>
        </p:spPr>
        <p:txBody>
          <a:bodyPr wrap="square">
            <a:spAutoFit/>
          </a:bodyPr>
          <a:lstStyle/>
          <a:p>
            <a:r>
              <a:rPr lang="en-US" dirty="0"/>
              <a:t>4. Open the folder and find the </a:t>
            </a:r>
            <a:r>
              <a:rPr lang="en-US" i="1" dirty="0"/>
              <a:t>install.bat</a:t>
            </a:r>
            <a:r>
              <a:rPr lang="en-US" dirty="0"/>
              <a:t> file. Double-click to run this </a:t>
            </a:r>
            <a:r>
              <a:rPr lang="en-US" dirty="0" err="1"/>
              <a:t>Powershell</a:t>
            </a:r>
            <a:r>
              <a:rPr lang="en-US" dirty="0"/>
              <a:t> program.</a:t>
            </a:r>
          </a:p>
          <a:p>
            <a:r>
              <a:rPr lang="en-US" dirty="0"/>
              <a:t>	This will verify and prompt the user to install any required </a:t>
            </a:r>
            <a:r>
              <a:rPr lang="en-US" dirty="0" err="1"/>
              <a:t>softwares</a:t>
            </a:r>
            <a:r>
              <a:rPr lang="en-US" dirty="0"/>
              <a:t> or packages required to run the Python script.</a:t>
            </a:r>
          </a:p>
        </p:txBody>
      </p:sp>
      <p:pic>
        <p:nvPicPr>
          <p:cNvPr id="11" name="Graphic 10" descr="Cursor with solid fill">
            <a:extLst>
              <a:ext uri="{FF2B5EF4-FFF2-40B4-BE49-F238E27FC236}">
                <a16:creationId xmlns:a16="http://schemas.microsoft.com/office/drawing/2014/main" id="{1C43600F-925D-0C7A-3EBF-119722579A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80385" y="3790341"/>
            <a:ext cx="914400" cy="914400"/>
          </a:xfrm>
          <a:prstGeom prst="rect">
            <a:avLst/>
          </a:prstGeom>
        </p:spPr>
      </p:pic>
      <p:sp>
        <p:nvSpPr>
          <p:cNvPr id="15" name="TextBox 14">
            <a:extLst>
              <a:ext uri="{FF2B5EF4-FFF2-40B4-BE49-F238E27FC236}">
                <a16:creationId xmlns:a16="http://schemas.microsoft.com/office/drawing/2014/main" id="{E5D74502-8DF3-7771-B570-DE58D68C851E}"/>
              </a:ext>
            </a:extLst>
          </p:cNvPr>
          <p:cNvSpPr txBox="1"/>
          <p:nvPr/>
        </p:nvSpPr>
        <p:spPr>
          <a:xfrm>
            <a:off x="301411" y="5140714"/>
            <a:ext cx="7169576" cy="646331"/>
          </a:xfrm>
          <a:prstGeom prst="rect">
            <a:avLst/>
          </a:prstGeom>
          <a:noFill/>
        </p:spPr>
        <p:txBody>
          <a:bodyPr wrap="square">
            <a:spAutoFit/>
          </a:bodyPr>
          <a:lstStyle/>
          <a:p>
            <a:r>
              <a:rPr lang="en-US" dirty="0"/>
              <a:t>5. A Warning Window will pop-up, Uncheck the box next to “Always ask before ...”, and click </a:t>
            </a:r>
            <a:r>
              <a:rPr lang="en-US" i="1" dirty="0"/>
              <a:t>Run </a:t>
            </a:r>
            <a:r>
              <a:rPr lang="en-US" dirty="0"/>
              <a:t>to Proceed.</a:t>
            </a:r>
          </a:p>
        </p:txBody>
      </p:sp>
      <p:pic>
        <p:nvPicPr>
          <p:cNvPr id="9" name="Graphic 8" descr="Cursor with solid fill">
            <a:extLst>
              <a:ext uri="{FF2B5EF4-FFF2-40B4-BE49-F238E27FC236}">
                <a16:creationId xmlns:a16="http://schemas.microsoft.com/office/drawing/2014/main" id="{34789C65-227E-44DD-DE9F-93D2A0C981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4858" y="7599180"/>
            <a:ext cx="914400" cy="914400"/>
          </a:xfrm>
          <a:prstGeom prst="rect">
            <a:avLst/>
          </a:prstGeom>
        </p:spPr>
      </p:pic>
    </p:spTree>
    <p:extLst>
      <p:ext uri="{BB962C8B-B14F-4D97-AF65-F5344CB8AC3E}">
        <p14:creationId xmlns:p14="http://schemas.microsoft.com/office/powerpoint/2010/main" val="112173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F3447-E6F2-4C67-B645-6FD7FFAF73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5CEAD0-6758-B5AC-01FE-7A2F0A289438}"/>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1EFAAE0D-B862-06B2-3A00-34389A9BE76C}"/>
              </a:ext>
            </a:extLst>
          </p:cNvPr>
          <p:cNvSpPr>
            <a:spLocks noGrp="1"/>
          </p:cNvSpPr>
          <p:nvPr>
            <p:ph type="sldNum" sz="quarter" idx="12"/>
          </p:nvPr>
        </p:nvSpPr>
        <p:spPr/>
        <p:txBody>
          <a:bodyPr/>
          <a:lstStyle/>
          <a:p>
            <a:fld id="{3DE2C916-6F1E-4075-B034-0F55610526B3}" type="slidenum">
              <a:rPr lang="en-US" smtClean="0"/>
              <a:t>6</a:t>
            </a:fld>
            <a:endParaRPr lang="en-US"/>
          </a:p>
        </p:txBody>
      </p:sp>
      <p:sp>
        <p:nvSpPr>
          <p:cNvPr id="7" name="TextBox 6">
            <a:extLst>
              <a:ext uri="{FF2B5EF4-FFF2-40B4-BE49-F238E27FC236}">
                <a16:creationId xmlns:a16="http://schemas.microsoft.com/office/drawing/2014/main" id="{921E3456-17D3-D7AF-B638-9EC2291A2084}"/>
              </a:ext>
            </a:extLst>
          </p:cNvPr>
          <p:cNvSpPr txBox="1"/>
          <p:nvPr/>
        </p:nvSpPr>
        <p:spPr>
          <a:xfrm>
            <a:off x="301411" y="899549"/>
            <a:ext cx="7169576" cy="369332"/>
          </a:xfrm>
          <a:prstGeom prst="rect">
            <a:avLst/>
          </a:prstGeom>
          <a:noFill/>
        </p:spPr>
        <p:txBody>
          <a:bodyPr wrap="square">
            <a:spAutoFit/>
          </a:bodyPr>
          <a:lstStyle/>
          <a:p>
            <a:r>
              <a:rPr lang="en-US" dirty="0"/>
              <a:t>6. A terminal window will pop-up displaying the batch file in action.</a:t>
            </a:r>
          </a:p>
        </p:txBody>
      </p:sp>
      <p:sp>
        <p:nvSpPr>
          <p:cNvPr id="15" name="TextBox 14">
            <a:extLst>
              <a:ext uri="{FF2B5EF4-FFF2-40B4-BE49-F238E27FC236}">
                <a16:creationId xmlns:a16="http://schemas.microsoft.com/office/drawing/2014/main" id="{E74D5E42-BA7A-5352-5982-B8BE8404D43F}"/>
              </a:ext>
            </a:extLst>
          </p:cNvPr>
          <p:cNvSpPr txBox="1"/>
          <p:nvPr/>
        </p:nvSpPr>
        <p:spPr>
          <a:xfrm>
            <a:off x="301411" y="5140714"/>
            <a:ext cx="7169576" cy="646331"/>
          </a:xfrm>
          <a:prstGeom prst="rect">
            <a:avLst/>
          </a:prstGeom>
          <a:noFill/>
        </p:spPr>
        <p:txBody>
          <a:bodyPr wrap="square">
            <a:spAutoFit/>
          </a:bodyPr>
          <a:lstStyle/>
          <a:p>
            <a:r>
              <a:rPr lang="en-US" dirty="0"/>
              <a:t>7. Ideal outcome should be all green </a:t>
            </a:r>
            <a:r>
              <a:rPr lang="en-US" b="1" dirty="0">
                <a:solidFill>
                  <a:schemeClr val="accent6"/>
                </a:solidFill>
              </a:rPr>
              <a:t>[PASS]</a:t>
            </a:r>
            <a:r>
              <a:rPr lang="en-US" dirty="0"/>
              <a:t>, if any </a:t>
            </a:r>
            <a:r>
              <a:rPr lang="en-US" b="1" dirty="0">
                <a:solidFill>
                  <a:srgbClr val="FF0000"/>
                </a:solidFill>
              </a:rPr>
              <a:t>[FAIL] </a:t>
            </a:r>
            <a:r>
              <a:rPr lang="en-US" dirty="0"/>
              <a:t>follow the  terminal prompts or see Troubleshooting section.</a:t>
            </a:r>
          </a:p>
        </p:txBody>
      </p:sp>
      <p:pic>
        <p:nvPicPr>
          <p:cNvPr id="6" name="Picture 5">
            <a:extLst>
              <a:ext uri="{FF2B5EF4-FFF2-40B4-BE49-F238E27FC236}">
                <a16:creationId xmlns:a16="http://schemas.microsoft.com/office/drawing/2014/main" id="{A68E8B32-CDF9-A43C-6F21-228ADFEFBF46}"/>
              </a:ext>
            </a:extLst>
          </p:cNvPr>
          <p:cNvPicPr>
            <a:picLocks noChangeAspect="1"/>
          </p:cNvPicPr>
          <p:nvPr/>
        </p:nvPicPr>
        <p:blipFill>
          <a:blip r:embed="rId2"/>
          <a:stretch>
            <a:fillRect/>
          </a:stretch>
        </p:blipFill>
        <p:spPr>
          <a:xfrm>
            <a:off x="443739" y="1246278"/>
            <a:ext cx="6884919" cy="3894436"/>
          </a:xfrm>
          <a:prstGeom prst="rect">
            <a:avLst/>
          </a:prstGeom>
        </p:spPr>
      </p:pic>
      <p:pic>
        <p:nvPicPr>
          <p:cNvPr id="10" name="Picture 9">
            <a:extLst>
              <a:ext uri="{FF2B5EF4-FFF2-40B4-BE49-F238E27FC236}">
                <a16:creationId xmlns:a16="http://schemas.microsoft.com/office/drawing/2014/main" id="{E36E72BF-637B-4231-FA47-42240C5676F3}"/>
              </a:ext>
            </a:extLst>
          </p:cNvPr>
          <p:cNvPicPr>
            <a:picLocks noChangeAspect="1"/>
          </p:cNvPicPr>
          <p:nvPr/>
        </p:nvPicPr>
        <p:blipFill>
          <a:blip r:embed="rId3"/>
          <a:stretch>
            <a:fillRect/>
          </a:stretch>
        </p:blipFill>
        <p:spPr>
          <a:xfrm>
            <a:off x="855865" y="5769446"/>
            <a:ext cx="6060669" cy="3389405"/>
          </a:xfrm>
          <a:prstGeom prst="rect">
            <a:avLst/>
          </a:prstGeom>
        </p:spPr>
      </p:pic>
    </p:spTree>
    <p:extLst>
      <p:ext uri="{BB962C8B-B14F-4D97-AF65-F5344CB8AC3E}">
        <p14:creationId xmlns:p14="http://schemas.microsoft.com/office/powerpoint/2010/main" val="3749205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B01B1-F503-D68A-DC79-F7147EE084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E9A21B-4E3D-F29C-6A82-E69DDC6021A9}"/>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4DD62842-898F-FC6C-10A0-356E65AC7437}"/>
              </a:ext>
            </a:extLst>
          </p:cNvPr>
          <p:cNvSpPr>
            <a:spLocks noGrp="1"/>
          </p:cNvSpPr>
          <p:nvPr>
            <p:ph type="sldNum" sz="quarter" idx="12"/>
          </p:nvPr>
        </p:nvSpPr>
        <p:spPr/>
        <p:txBody>
          <a:bodyPr/>
          <a:lstStyle/>
          <a:p>
            <a:fld id="{3DE2C916-6F1E-4075-B034-0F55610526B3}" type="slidenum">
              <a:rPr lang="en-US" smtClean="0"/>
              <a:t>7</a:t>
            </a:fld>
            <a:endParaRPr lang="en-US"/>
          </a:p>
        </p:txBody>
      </p:sp>
      <p:sp>
        <p:nvSpPr>
          <p:cNvPr id="7" name="TextBox 6">
            <a:extLst>
              <a:ext uri="{FF2B5EF4-FFF2-40B4-BE49-F238E27FC236}">
                <a16:creationId xmlns:a16="http://schemas.microsoft.com/office/drawing/2014/main" id="{064DB540-5138-DC60-5C6C-7DF732C51F3A}"/>
              </a:ext>
            </a:extLst>
          </p:cNvPr>
          <p:cNvSpPr txBox="1"/>
          <p:nvPr/>
        </p:nvSpPr>
        <p:spPr>
          <a:xfrm>
            <a:off x="301411" y="899549"/>
            <a:ext cx="7169576" cy="646331"/>
          </a:xfrm>
          <a:prstGeom prst="rect">
            <a:avLst/>
          </a:prstGeom>
          <a:noFill/>
        </p:spPr>
        <p:txBody>
          <a:bodyPr wrap="square">
            <a:spAutoFit/>
          </a:bodyPr>
          <a:lstStyle/>
          <a:p>
            <a:r>
              <a:rPr lang="en-US" dirty="0"/>
              <a:t>8. A window will pop up opening the </a:t>
            </a:r>
            <a:r>
              <a:rPr lang="en-US" i="1" dirty="0" err="1"/>
              <a:t>test_batch</a:t>
            </a:r>
            <a:r>
              <a:rPr lang="en-US" i="1" dirty="0"/>
              <a:t> </a:t>
            </a:r>
            <a:r>
              <a:rPr lang="en-US" dirty="0"/>
              <a:t>folder once </a:t>
            </a:r>
            <a:r>
              <a:rPr lang="en-US" i="1" dirty="0"/>
              <a:t>install.bat</a:t>
            </a:r>
            <a:r>
              <a:rPr lang="en-US" dirty="0"/>
              <a:t> is completed.</a:t>
            </a:r>
          </a:p>
        </p:txBody>
      </p:sp>
      <p:sp>
        <p:nvSpPr>
          <p:cNvPr id="18" name="TextBox 17">
            <a:extLst>
              <a:ext uri="{FF2B5EF4-FFF2-40B4-BE49-F238E27FC236}">
                <a16:creationId xmlns:a16="http://schemas.microsoft.com/office/drawing/2014/main" id="{310E1722-9DE7-D1EB-96FB-B99C14B2E652}"/>
              </a:ext>
            </a:extLst>
          </p:cNvPr>
          <p:cNvSpPr txBox="1"/>
          <p:nvPr/>
        </p:nvSpPr>
        <p:spPr>
          <a:xfrm>
            <a:off x="2398233" y="7568982"/>
            <a:ext cx="2874618" cy="369332"/>
          </a:xfrm>
          <a:prstGeom prst="rect">
            <a:avLst/>
          </a:prstGeom>
          <a:noFill/>
        </p:spPr>
        <p:txBody>
          <a:bodyPr wrap="square">
            <a:spAutoFit/>
          </a:bodyPr>
          <a:lstStyle/>
          <a:p>
            <a:r>
              <a:rPr lang="en-US" b="1" dirty="0"/>
              <a:t>Continue to next page </a:t>
            </a:r>
            <a:r>
              <a:rPr lang="en-US" b="1" dirty="0">
                <a:sym typeface="Wingdings" panose="05000000000000000000" pitchFamily="2" charset="2"/>
              </a:rPr>
              <a:t></a:t>
            </a:r>
            <a:endParaRPr lang="en-US" b="1" dirty="0"/>
          </a:p>
        </p:txBody>
      </p:sp>
      <p:pic>
        <p:nvPicPr>
          <p:cNvPr id="10" name="Picture 9">
            <a:extLst>
              <a:ext uri="{FF2B5EF4-FFF2-40B4-BE49-F238E27FC236}">
                <a16:creationId xmlns:a16="http://schemas.microsoft.com/office/drawing/2014/main" id="{13C4B719-E0CF-01FE-5BE1-0FF29C960E43}"/>
              </a:ext>
            </a:extLst>
          </p:cNvPr>
          <p:cNvPicPr>
            <a:picLocks noChangeAspect="1"/>
          </p:cNvPicPr>
          <p:nvPr/>
        </p:nvPicPr>
        <p:blipFill>
          <a:blip r:embed="rId2"/>
          <a:stretch>
            <a:fillRect/>
          </a:stretch>
        </p:blipFill>
        <p:spPr>
          <a:xfrm>
            <a:off x="322380" y="1545880"/>
            <a:ext cx="7127637" cy="3849608"/>
          </a:xfrm>
          <a:prstGeom prst="rect">
            <a:avLst/>
          </a:prstGeom>
        </p:spPr>
      </p:pic>
    </p:spTree>
    <p:extLst>
      <p:ext uri="{BB962C8B-B14F-4D97-AF65-F5344CB8AC3E}">
        <p14:creationId xmlns:p14="http://schemas.microsoft.com/office/powerpoint/2010/main" val="243044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15D1-9D3B-FDFD-AE94-83F20F8FD472}"/>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320EF03-3461-EB2F-975A-0E854D881A35}"/>
              </a:ext>
            </a:extLst>
          </p:cNvPr>
          <p:cNvPicPr>
            <a:picLocks noChangeAspect="1"/>
          </p:cNvPicPr>
          <p:nvPr/>
        </p:nvPicPr>
        <p:blipFill>
          <a:blip r:embed="rId2"/>
          <a:stretch>
            <a:fillRect/>
          </a:stretch>
        </p:blipFill>
        <p:spPr>
          <a:xfrm>
            <a:off x="1060482" y="1545880"/>
            <a:ext cx="5643432" cy="3098354"/>
          </a:xfrm>
          <a:prstGeom prst="rect">
            <a:avLst/>
          </a:prstGeom>
        </p:spPr>
      </p:pic>
      <p:sp>
        <p:nvSpPr>
          <p:cNvPr id="2" name="TextBox 1">
            <a:extLst>
              <a:ext uri="{FF2B5EF4-FFF2-40B4-BE49-F238E27FC236}">
                <a16:creationId xmlns:a16="http://schemas.microsoft.com/office/drawing/2014/main" id="{D3C5DE81-3965-D29A-E029-982CDEFCC9E5}"/>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65FD7122-560C-D848-38DB-C751A7D4AA61}"/>
              </a:ext>
            </a:extLst>
          </p:cNvPr>
          <p:cNvSpPr>
            <a:spLocks noGrp="1"/>
          </p:cNvSpPr>
          <p:nvPr>
            <p:ph type="sldNum" sz="quarter" idx="12"/>
          </p:nvPr>
        </p:nvSpPr>
        <p:spPr/>
        <p:txBody>
          <a:bodyPr/>
          <a:lstStyle/>
          <a:p>
            <a:fld id="{3DE2C916-6F1E-4075-B034-0F55610526B3}" type="slidenum">
              <a:rPr lang="en-US" smtClean="0"/>
              <a:t>8</a:t>
            </a:fld>
            <a:endParaRPr lang="en-US"/>
          </a:p>
        </p:txBody>
      </p:sp>
      <p:sp>
        <p:nvSpPr>
          <p:cNvPr id="7" name="TextBox 6">
            <a:extLst>
              <a:ext uri="{FF2B5EF4-FFF2-40B4-BE49-F238E27FC236}">
                <a16:creationId xmlns:a16="http://schemas.microsoft.com/office/drawing/2014/main" id="{8A49A8C5-00A4-0E8D-A5FC-D41643478209}"/>
              </a:ext>
            </a:extLst>
          </p:cNvPr>
          <p:cNvSpPr txBox="1"/>
          <p:nvPr/>
        </p:nvSpPr>
        <p:spPr>
          <a:xfrm>
            <a:off x="301411" y="899549"/>
            <a:ext cx="7169576" cy="646331"/>
          </a:xfrm>
          <a:prstGeom prst="rect">
            <a:avLst/>
          </a:prstGeom>
          <a:noFill/>
        </p:spPr>
        <p:txBody>
          <a:bodyPr wrap="square">
            <a:spAutoFit/>
          </a:bodyPr>
          <a:lstStyle/>
          <a:p>
            <a:r>
              <a:rPr lang="en-US" dirty="0"/>
              <a:t>9. Find the </a:t>
            </a:r>
            <a:r>
              <a:rPr lang="en-US" i="1" dirty="0"/>
              <a:t>test_run.bat </a:t>
            </a:r>
            <a:r>
              <a:rPr lang="en-US" dirty="0"/>
              <a:t>file and double-click to run that PowerShell program.</a:t>
            </a:r>
          </a:p>
        </p:txBody>
      </p:sp>
      <p:pic>
        <p:nvPicPr>
          <p:cNvPr id="9" name="Graphic 8" descr="Cursor with solid fill">
            <a:extLst>
              <a:ext uri="{FF2B5EF4-FFF2-40B4-BE49-F238E27FC236}">
                <a16:creationId xmlns:a16="http://schemas.microsoft.com/office/drawing/2014/main" id="{CDCAA9F8-19BB-E841-F7AC-566738C15B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4998" y="2975488"/>
            <a:ext cx="914400" cy="914400"/>
          </a:xfrm>
          <a:prstGeom prst="rect">
            <a:avLst/>
          </a:prstGeom>
        </p:spPr>
      </p:pic>
      <p:sp>
        <p:nvSpPr>
          <p:cNvPr id="12" name="TextBox 11">
            <a:extLst>
              <a:ext uri="{FF2B5EF4-FFF2-40B4-BE49-F238E27FC236}">
                <a16:creationId xmlns:a16="http://schemas.microsoft.com/office/drawing/2014/main" id="{616D7732-DD92-B27C-4AE1-6C69F0B9ADE5}"/>
              </a:ext>
            </a:extLst>
          </p:cNvPr>
          <p:cNvSpPr txBox="1"/>
          <p:nvPr/>
        </p:nvSpPr>
        <p:spPr>
          <a:xfrm>
            <a:off x="301411" y="4863010"/>
            <a:ext cx="7169576" cy="646331"/>
          </a:xfrm>
          <a:prstGeom prst="rect">
            <a:avLst/>
          </a:prstGeom>
          <a:noFill/>
        </p:spPr>
        <p:txBody>
          <a:bodyPr wrap="square">
            <a:spAutoFit/>
          </a:bodyPr>
          <a:lstStyle/>
          <a:p>
            <a:r>
              <a:rPr lang="en-US" dirty="0"/>
              <a:t>10. A Warning Window will pop-up, Uncheck the box next to “Always ask before ...”, and click </a:t>
            </a:r>
            <a:r>
              <a:rPr lang="en-US" i="1" dirty="0"/>
              <a:t>Run </a:t>
            </a:r>
            <a:r>
              <a:rPr lang="en-US" dirty="0"/>
              <a:t>to Proceed.</a:t>
            </a:r>
          </a:p>
        </p:txBody>
      </p:sp>
      <p:pic>
        <p:nvPicPr>
          <p:cNvPr id="15" name="Picture 14">
            <a:extLst>
              <a:ext uri="{FF2B5EF4-FFF2-40B4-BE49-F238E27FC236}">
                <a16:creationId xmlns:a16="http://schemas.microsoft.com/office/drawing/2014/main" id="{A140F2AE-E083-C9ED-35AC-18D621617729}"/>
              </a:ext>
            </a:extLst>
          </p:cNvPr>
          <p:cNvPicPr>
            <a:picLocks noChangeAspect="1"/>
          </p:cNvPicPr>
          <p:nvPr/>
        </p:nvPicPr>
        <p:blipFill>
          <a:blip r:embed="rId4"/>
          <a:srcRect l="656" b="1840"/>
          <a:stretch>
            <a:fillRect/>
          </a:stretch>
        </p:blipFill>
        <p:spPr>
          <a:xfrm>
            <a:off x="1300163" y="5728117"/>
            <a:ext cx="5206458" cy="3794706"/>
          </a:xfrm>
          <a:prstGeom prst="rect">
            <a:avLst/>
          </a:prstGeom>
        </p:spPr>
      </p:pic>
      <p:pic>
        <p:nvPicPr>
          <p:cNvPr id="16" name="Graphic 15" descr="Cursor with solid fill">
            <a:extLst>
              <a:ext uri="{FF2B5EF4-FFF2-40B4-BE49-F238E27FC236}">
                <a16:creationId xmlns:a16="http://schemas.microsoft.com/office/drawing/2014/main" id="{CB2FA884-635B-52A6-2F50-5E7CE100F7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0804" y="7912071"/>
            <a:ext cx="914400" cy="914400"/>
          </a:xfrm>
          <a:prstGeom prst="rect">
            <a:avLst/>
          </a:prstGeom>
        </p:spPr>
      </p:pic>
    </p:spTree>
    <p:extLst>
      <p:ext uri="{BB962C8B-B14F-4D97-AF65-F5344CB8AC3E}">
        <p14:creationId xmlns:p14="http://schemas.microsoft.com/office/powerpoint/2010/main" val="2953400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9CA94-2710-861F-3099-042618B5EF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E42874-EF7C-D3C7-C223-963C6A731C4F}"/>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090611D8-DEE8-DBC4-0688-9B54494C6571}"/>
              </a:ext>
            </a:extLst>
          </p:cNvPr>
          <p:cNvSpPr>
            <a:spLocks noGrp="1"/>
          </p:cNvSpPr>
          <p:nvPr>
            <p:ph type="sldNum" sz="quarter" idx="12"/>
          </p:nvPr>
        </p:nvSpPr>
        <p:spPr/>
        <p:txBody>
          <a:bodyPr/>
          <a:lstStyle/>
          <a:p>
            <a:fld id="{3DE2C916-6F1E-4075-B034-0F55610526B3}" type="slidenum">
              <a:rPr lang="en-US" smtClean="0"/>
              <a:t>9</a:t>
            </a:fld>
            <a:endParaRPr lang="en-US"/>
          </a:p>
        </p:txBody>
      </p:sp>
      <p:sp>
        <p:nvSpPr>
          <p:cNvPr id="7" name="TextBox 6">
            <a:extLst>
              <a:ext uri="{FF2B5EF4-FFF2-40B4-BE49-F238E27FC236}">
                <a16:creationId xmlns:a16="http://schemas.microsoft.com/office/drawing/2014/main" id="{9F964C94-B0E9-186A-458D-73357558CDE3}"/>
              </a:ext>
            </a:extLst>
          </p:cNvPr>
          <p:cNvSpPr txBox="1"/>
          <p:nvPr/>
        </p:nvSpPr>
        <p:spPr>
          <a:xfrm>
            <a:off x="297410" y="844142"/>
            <a:ext cx="7169576" cy="646331"/>
          </a:xfrm>
          <a:prstGeom prst="rect">
            <a:avLst/>
          </a:prstGeom>
          <a:noFill/>
        </p:spPr>
        <p:txBody>
          <a:bodyPr wrap="square">
            <a:spAutoFit/>
          </a:bodyPr>
          <a:lstStyle/>
          <a:p>
            <a:r>
              <a:rPr lang="en-US" dirty="0"/>
              <a:t>11. Another terminal window will open, ensuring that all the required files are available before running the test conversion.</a:t>
            </a:r>
            <a:endParaRPr lang="en-US" b="1" dirty="0">
              <a:solidFill>
                <a:srgbClr val="FF0000"/>
              </a:solidFill>
            </a:endParaRPr>
          </a:p>
        </p:txBody>
      </p:sp>
      <p:sp>
        <p:nvSpPr>
          <p:cNvPr id="12" name="TextBox 11">
            <a:extLst>
              <a:ext uri="{FF2B5EF4-FFF2-40B4-BE49-F238E27FC236}">
                <a16:creationId xmlns:a16="http://schemas.microsoft.com/office/drawing/2014/main" id="{8CC394E4-92A2-3872-FE3E-5408865CB9DB}"/>
              </a:ext>
            </a:extLst>
          </p:cNvPr>
          <p:cNvSpPr txBox="1"/>
          <p:nvPr/>
        </p:nvSpPr>
        <p:spPr>
          <a:xfrm>
            <a:off x="297410" y="5593434"/>
            <a:ext cx="7169576" cy="646331"/>
          </a:xfrm>
          <a:prstGeom prst="rect">
            <a:avLst/>
          </a:prstGeom>
          <a:noFill/>
        </p:spPr>
        <p:txBody>
          <a:bodyPr wrap="square">
            <a:spAutoFit/>
          </a:bodyPr>
          <a:lstStyle/>
          <a:p>
            <a:r>
              <a:rPr lang="en-US" dirty="0"/>
              <a:t>12. In the event of a </a:t>
            </a:r>
            <a:r>
              <a:rPr lang="en-US" b="1" dirty="0">
                <a:solidFill>
                  <a:srgbClr val="FF0000"/>
                </a:solidFill>
              </a:rPr>
              <a:t>[FAIL]</a:t>
            </a:r>
            <a:r>
              <a:rPr lang="en-US" dirty="0"/>
              <a:t>, follow the prompts from the Terminal, or go to the Troubleshooting section.</a:t>
            </a:r>
          </a:p>
        </p:txBody>
      </p:sp>
      <p:pic>
        <p:nvPicPr>
          <p:cNvPr id="6" name="Picture 5">
            <a:extLst>
              <a:ext uri="{FF2B5EF4-FFF2-40B4-BE49-F238E27FC236}">
                <a16:creationId xmlns:a16="http://schemas.microsoft.com/office/drawing/2014/main" id="{9BC6C770-A88D-A4E3-5310-AAC88455BAAD}"/>
              </a:ext>
            </a:extLst>
          </p:cNvPr>
          <p:cNvPicPr>
            <a:picLocks noChangeAspect="1"/>
          </p:cNvPicPr>
          <p:nvPr/>
        </p:nvPicPr>
        <p:blipFill>
          <a:blip r:embed="rId2"/>
          <a:stretch>
            <a:fillRect/>
          </a:stretch>
        </p:blipFill>
        <p:spPr>
          <a:xfrm>
            <a:off x="243662" y="1545880"/>
            <a:ext cx="7277072" cy="3975862"/>
          </a:xfrm>
          <a:prstGeom prst="rect">
            <a:avLst/>
          </a:prstGeom>
        </p:spPr>
      </p:pic>
      <p:pic>
        <p:nvPicPr>
          <p:cNvPr id="9" name="Picture 8">
            <a:extLst>
              <a:ext uri="{FF2B5EF4-FFF2-40B4-BE49-F238E27FC236}">
                <a16:creationId xmlns:a16="http://schemas.microsoft.com/office/drawing/2014/main" id="{F8DB4AB7-1353-2D5B-FD88-C8C30BA70847}"/>
              </a:ext>
            </a:extLst>
          </p:cNvPr>
          <p:cNvPicPr>
            <a:picLocks noChangeAspect="1"/>
          </p:cNvPicPr>
          <p:nvPr/>
        </p:nvPicPr>
        <p:blipFill>
          <a:blip r:embed="rId3"/>
          <a:srcRect r="38311" b="25579"/>
          <a:stretch>
            <a:fillRect/>
          </a:stretch>
        </p:blipFill>
        <p:spPr>
          <a:xfrm>
            <a:off x="1334515" y="6239765"/>
            <a:ext cx="5095365" cy="3457026"/>
          </a:xfrm>
          <a:prstGeom prst="rect">
            <a:avLst/>
          </a:prstGeom>
        </p:spPr>
      </p:pic>
    </p:spTree>
    <p:extLst>
      <p:ext uri="{BB962C8B-B14F-4D97-AF65-F5344CB8AC3E}">
        <p14:creationId xmlns:p14="http://schemas.microsoft.com/office/powerpoint/2010/main" val="3840431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12477-B512-5B96-4871-512A35A4C9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D7AFC9-F26F-E1C5-3583-EC0D6C4CE907}"/>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6BE8207E-A99C-4DBC-9896-B9A365F6F2DB}"/>
              </a:ext>
            </a:extLst>
          </p:cNvPr>
          <p:cNvSpPr>
            <a:spLocks noGrp="1"/>
          </p:cNvSpPr>
          <p:nvPr>
            <p:ph type="sldNum" sz="quarter" idx="12"/>
          </p:nvPr>
        </p:nvSpPr>
        <p:spPr/>
        <p:txBody>
          <a:bodyPr/>
          <a:lstStyle/>
          <a:p>
            <a:fld id="{3DE2C916-6F1E-4075-B034-0F55610526B3}" type="slidenum">
              <a:rPr lang="en-US" smtClean="0"/>
              <a:t>10</a:t>
            </a:fld>
            <a:endParaRPr lang="en-US"/>
          </a:p>
        </p:txBody>
      </p:sp>
      <p:sp>
        <p:nvSpPr>
          <p:cNvPr id="7" name="TextBox 6">
            <a:extLst>
              <a:ext uri="{FF2B5EF4-FFF2-40B4-BE49-F238E27FC236}">
                <a16:creationId xmlns:a16="http://schemas.microsoft.com/office/drawing/2014/main" id="{5EC11380-C068-7B54-B7B9-F1ACB57619DB}"/>
              </a:ext>
            </a:extLst>
          </p:cNvPr>
          <p:cNvSpPr txBox="1"/>
          <p:nvPr/>
        </p:nvSpPr>
        <p:spPr>
          <a:xfrm>
            <a:off x="297410" y="844142"/>
            <a:ext cx="7169576" cy="646331"/>
          </a:xfrm>
          <a:prstGeom prst="rect">
            <a:avLst/>
          </a:prstGeom>
          <a:noFill/>
        </p:spPr>
        <p:txBody>
          <a:bodyPr wrap="square">
            <a:spAutoFit/>
          </a:bodyPr>
          <a:lstStyle/>
          <a:p>
            <a:r>
              <a:rPr lang="en-US" dirty="0"/>
              <a:t>13. Once up and running, a new instance of PowerPoint should appear and assets should be inserted into their respective locations.</a:t>
            </a:r>
            <a:endParaRPr lang="en-US" b="1" dirty="0">
              <a:solidFill>
                <a:srgbClr val="FF0000"/>
              </a:solidFill>
            </a:endParaRPr>
          </a:p>
        </p:txBody>
      </p:sp>
      <p:sp>
        <p:nvSpPr>
          <p:cNvPr id="12" name="TextBox 11">
            <a:extLst>
              <a:ext uri="{FF2B5EF4-FFF2-40B4-BE49-F238E27FC236}">
                <a16:creationId xmlns:a16="http://schemas.microsoft.com/office/drawing/2014/main" id="{3B04E0EF-678B-889D-F403-FC3A18358939}"/>
              </a:ext>
            </a:extLst>
          </p:cNvPr>
          <p:cNvSpPr txBox="1"/>
          <p:nvPr/>
        </p:nvSpPr>
        <p:spPr>
          <a:xfrm>
            <a:off x="297410" y="5593434"/>
            <a:ext cx="7169576" cy="646331"/>
          </a:xfrm>
          <a:prstGeom prst="rect">
            <a:avLst/>
          </a:prstGeom>
          <a:noFill/>
        </p:spPr>
        <p:txBody>
          <a:bodyPr wrap="square">
            <a:spAutoFit/>
          </a:bodyPr>
          <a:lstStyle/>
          <a:p>
            <a:r>
              <a:rPr lang="en-US" dirty="0"/>
              <a:t>The video linked below shows the (demo running without faults)</a:t>
            </a:r>
          </a:p>
          <a:p>
            <a:endParaRPr lang="en-US" dirty="0"/>
          </a:p>
        </p:txBody>
      </p:sp>
      <p:pic>
        <p:nvPicPr>
          <p:cNvPr id="5" name="Picture 4">
            <a:extLst>
              <a:ext uri="{FF2B5EF4-FFF2-40B4-BE49-F238E27FC236}">
                <a16:creationId xmlns:a16="http://schemas.microsoft.com/office/drawing/2014/main" id="{B39541FC-C8B9-7B5E-3ACB-40C701125267}"/>
              </a:ext>
            </a:extLst>
          </p:cNvPr>
          <p:cNvPicPr>
            <a:picLocks noChangeAspect="1"/>
          </p:cNvPicPr>
          <p:nvPr/>
        </p:nvPicPr>
        <p:blipFill>
          <a:blip r:embed="rId2"/>
          <a:stretch>
            <a:fillRect/>
          </a:stretch>
        </p:blipFill>
        <p:spPr>
          <a:xfrm>
            <a:off x="222825" y="1545880"/>
            <a:ext cx="7318744" cy="3932061"/>
          </a:xfrm>
          <a:prstGeom prst="rect">
            <a:avLst/>
          </a:prstGeom>
        </p:spPr>
      </p:pic>
      <p:pic>
        <p:nvPicPr>
          <p:cNvPr id="6" name="Graphic 5" descr="Presentation with media with solid fill">
            <a:hlinkClick r:id="rId3"/>
            <a:extLst>
              <a:ext uri="{FF2B5EF4-FFF2-40B4-BE49-F238E27FC236}">
                <a16:creationId xmlns:a16="http://schemas.microsoft.com/office/drawing/2014/main" id="{C40A25E5-172B-EE54-0B83-5B6BD73BB9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9032" y="6355258"/>
            <a:ext cx="2286330" cy="2286330"/>
          </a:xfrm>
          <a:prstGeom prst="rect">
            <a:avLst/>
          </a:prstGeom>
        </p:spPr>
      </p:pic>
    </p:spTree>
    <p:extLst>
      <p:ext uri="{BB962C8B-B14F-4D97-AF65-F5344CB8AC3E}">
        <p14:creationId xmlns:p14="http://schemas.microsoft.com/office/powerpoint/2010/main" val="230847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D4598-0525-312A-BF41-474D38B4BE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41ED8-4654-1C7F-31AE-D041AD91B368}"/>
              </a:ext>
            </a:extLst>
          </p:cNvPr>
          <p:cNvSpPr txBox="1"/>
          <p:nvPr/>
        </p:nvSpPr>
        <p:spPr>
          <a:xfrm>
            <a:off x="0" y="253218"/>
            <a:ext cx="7772400" cy="646331"/>
          </a:xfrm>
          <a:prstGeom prst="rect">
            <a:avLst/>
          </a:prstGeom>
          <a:noFill/>
        </p:spPr>
        <p:txBody>
          <a:bodyPr wrap="square" rtlCol="0">
            <a:spAutoFit/>
          </a:bodyPr>
          <a:lstStyle/>
          <a:p>
            <a:pPr algn="ctr"/>
            <a:r>
              <a:rPr lang="en-US" sz="3600" b="1" dirty="0"/>
              <a:t>How to Install &amp; Run Demo </a:t>
            </a:r>
          </a:p>
        </p:txBody>
      </p:sp>
      <p:sp>
        <p:nvSpPr>
          <p:cNvPr id="3" name="Slide Number Placeholder 2">
            <a:extLst>
              <a:ext uri="{FF2B5EF4-FFF2-40B4-BE49-F238E27FC236}">
                <a16:creationId xmlns:a16="http://schemas.microsoft.com/office/drawing/2014/main" id="{F57F050B-67B8-CC78-9E58-32315EAF0C5C}"/>
              </a:ext>
            </a:extLst>
          </p:cNvPr>
          <p:cNvSpPr>
            <a:spLocks noGrp="1"/>
          </p:cNvSpPr>
          <p:nvPr>
            <p:ph type="sldNum" sz="quarter" idx="12"/>
          </p:nvPr>
        </p:nvSpPr>
        <p:spPr/>
        <p:txBody>
          <a:bodyPr/>
          <a:lstStyle/>
          <a:p>
            <a:fld id="{3DE2C916-6F1E-4075-B034-0F55610526B3}" type="slidenum">
              <a:rPr lang="en-US" smtClean="0"/>
              <a:t>11</a:t>
            </a:fld>
            <a:endParaRPr lang="en-US"/>
          </a:p>
        </p:txBody>
      </p:sp>
      <p:sp>
        <p:nvSpPr>
          <p:cNvPr id="7" name="TextBox 6">
            <a:extLst>
              <a:ext uri="{FF2B5EF4-FFF2-40B4-BE49-F238E27FC236}">
                <a16:creationId xmlns:a16="http://schemas.microsoft.com/office/drawing/2014/main" id="{806E559D-5E51-B984-EB4C-C06C7A860746}"/>
              </a:ext>
            </a:extLst>
          </p:cNvPr>
          <p:cNvSpPr txBox="1"/>
          <p:nvPr/>
        </p:nvSpPr>
        <p:spPr>
          <a:xfrm>
            <a:off x="297410" y="844142"/>
            <a:ext cx="7169576" cy="646331"/>
          </a:xfrm>
          <a:prstGeom prst="rect">
            <a:avLst/>
          </a:prstGeom>
          <a:noFill/>
        </p:spPr>
        <p:txBody>
          <a:bodyPr wrap="square">
            <a:spAutoFit/>
          </a:bodyPr>
          <a:lstStyle/>
          <a:p>
            <a:r>
              <a:rPr lang="en-US" dirty="0"/>
              <a:t>14. Once completed, a new folder titled </a:t>
            </a:r>
            <a:r>
              <a:rPr lang="en-US" i="1" dirty="0" err="1"/>
              <a:t>converted_pptxs</a:t>
            </a:r>
            <a:r>
              <a:rPr lang="en-US" i="1" dirty="0"/>
              <a:t> </a:t>
            </a:r>
            <a:r>
              <a:rPr lang="en-US" dirty="0"/>
              <a:t>is now available in the </a:t>
            </a:r>
            <a:r>
              <a:rPr lang="en-US" i="1" dirty="0" err="1"/>
              <a:t>test_batch</a:t>
            </a:r>
            <a:r>
              <a:rPr lang="en-US" i="1" dirty="0"/>
              <a:t> </a:t>
            </a:r>
            <a:r>
              <a:rPr lang="en-US" dirty="0"/>
              <a:t>folder.</a:t>
            </a:r>
            <a:endParaRPr lang="en-US" b="1" i="1" dirty="0">
              <a:solidFill>
                <a:srgbClr val="FF0000"/>
              </a:solidFill>
            </a:endParaRPr>
          </a:p>
        </p:txBody>
      </p:sp>
      <p:sp>
        <p:nvSpPr>
          <p:cNvPr id="8" name="TextBox 7">
            <a:extLst>
              <a:ext uri="{FF2B5EF4-FFF2-40B4-BE49-F238E27FC236}">
                <a16:creationId xmlns:a16="http://schemas.microsoft.com/office/drawing/2014/main" id="{C0EEACAF-DE27-BF52-4948-9A85DD4E712C}"/>
              </a:ext>
            </a:extLst>
          </p:cNvPr>
          <p:cNvSpPr txBox="1"/>
          <p:nvPr/>
        </p:nvSpPr>
        <p:spPr>
          <a:xfrm>
            <a:off x="297410" y="4919599"/>
            <a:ext cx="7169576" cy="369332"/>
          </a:xfrm>
          <a:prstGeom prst="rect">
            <a:avLst/>
          </a:prstGeom>
          <a:noFill/>
        </p:spPr>
        <p:txBody>
          <a:bodyPr wrap="square">
            <a:spAutoFit/>
          </a:bodyPr>
          <a:lstStyle/>
          <a:p>
            <a:r>
              <a:rPr lang="en-US" dirty="0"/>
              <a:t>15. Finally, inspect the converted .PPTXs files as needed.</a:t>
            </a:r>
            <a:endParaRPr lang="en-US" b="1" i="1" dirty="0">
              <a:solidFill>
                <a:srgbClr val="FF0000"/>
              </a:solidFill>
            </a:endParaRPr>
          </a:p>
        </p:txBody>
      </p:sp>
      <p:pic>
        <p:nvPicPr>
          <p:cNvPr id="11" name="Picture 10">
            <a:extLst>
              <a:ext uri="{FF2B5EF4-FFF2-40B4-BE49-F238E27FC236}">
                <a16:creationId xmlns:a16="http://schemas.microsoft.com/office/drawing/2014/main" id="{087F3353-268E-C773-9D76-48ECBAE9EFFB}"/>
              </a:ext>
            </a:extLst>
          </p:cNvPr>
          <p:cNvPicPr>
            <a:picLocks noChangeAspect="1"/>
          </p:cNvPicPr>
          <p:nvPr/>
        </p:nvPicPr>
        <p:blipFill>
          <a:blip r:embed="rId2"/>
          <a:stretch>
            <a:fillRect/>
          </a:stretch>
        </p:blipFill>
        <p:spPr>
          <a:xfrm>
            <a:off x="574101" y="5347131"/>
            <a:ext cx="6616194" cy="3867127"/>
          </a:xfrm>
          <a:prstGeom prst="rect">
            <a:avLst/>
          </a:prstGeom>
        </p:spPr>
      </p:pic>
      <p:pic>
        <p:nvPicPr>
          <p:cNvPr id="16" name="Picture 15">
            <a:extLst>
              <a:ext uri="{FF2B5EF4-FFF2-40B4-BE49-F238E27FC236}">
                <a16:creationId xmlns:a16="http://schemas.microsoft.com/office/drawing/2014/main" id="{A53C0096-AA3F-3038-2D00-0EC847483094}"/>
              </a:ext>
            </a:extLst>
          </p:cNvPr>
          <p:cNvPicPr>
            <a:picLocks noChangeAspect="1"/>
          </p:cNvPicPr>
          <p:nvPr/>
        </p:nvPicPr>
        <p:blipFill>
          <a:blip r:embed="rId3"/>
          <a:stretch>
            <a:fillRect/>
          </a:stretch>
        </p:blipFill>
        <p:spPr>
          <a:xfrm>
            <a:off x="372124" y="1598864"/>
            <a:ext cx="7028151" cy="2868633"/>
          </a:xfrm>
          <a:prstGeom prst="rect">
            <a:avLst/>
          </a:prstGeom>
        </p:spPr>
      </p:pic>
      <p:pic>
        <p:nvPicPr>
          <p:cNvPr id="17" name="Graphic 16" descr="Cursor with solid fill">
            <a:extLst>
              <a:ext uri="{FF2B5EF4-FFF2-40B4-BE49-F238E27FC236}">
                <a16:creationId xmlns:a16="http://schemas.microsoft.com/office/drawing/2014/main" id="{B78B3A7F-0006-A679-95BE-B34B674DF9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9690" y="2747836"/>
            <a:ext cx="914400" cy="914400"/>
          </a:xfrm>
          <a:prstGeom prst="rect">
            <a:avLst/>
          </a:prstGeom>
        </p:spPr>
      </p:pic>
    </p:spTree>
    <p:extLst>
      <p:ext uri="{BB962C8B-B14F-4D97-AF65-F5344CB8AC3E}">
        <p14:creationId xmlns:p14="http://schemas.microsoft.com/office/powerpoint/2010/main" val="1911879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130B7-D6AE-D0CE-6F42-4B5DC16509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8919D9-A16C-C83E-45A5-54566CF5167D}"/>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for Task Scheduler</a:t>
            </a:r>
          </a:p>
        </p:txBody>
      </p:sp>
      <p:sp>
        <p:nvSpPr>
          <p:cNvPr id="3" name="Slide Number Placeholder 2">
            <a:extLst>
              <a:ext uri="{FF2B5EF4-FFF2-40B4-BE49-F238E27FC236}">
                <a16:creationId xmlns:a16="http://schemas.microsoft.com/office/drawing/2014/main" id="{F5D198B5-92D3-605B-041C-635763EF06AB}"/>
              </a:ext>
            </a:extLst>
          </p:cNvPr>
          <p:cNvSpPr>
            <a:spLocks noGrp="1"/>
          </p:cNvSpPr>
          <p:nvPr>
            <p:ph type="sldNum" sz="quarter" idx="12"/>
          </p:nvPr>
        </p:nvSpPr>
        <p:spPr/>
        <p:txBody>
          <a:bodyPr/>
          <a:lstStyle/>
          <a:p>
            <a:fld id="{3DE2C916-6F1E-4075-B034-0F55610526B3}" type="slidenum">
              <a:rPr lang="en-US" smtClean="0"/>
              <a:t>12</a:t>
            </a:fld>
            <a:endParaRPr lang="en-US"/>
          </a:p>
        </p:txBody>
      </p:sp>
      <p:sp>
        <p:nvSpPr>
          <p:cNvPr id="10" name="TextBox 9">
            <a:extLst>
              <a:ext uri="{FF2B5EF4-FFF2-40B4-BE49-F238E27FC236}">
                <a16:creationId xmlns:a16="http://schemas.microsoft.com/office/drawing/2014/main" id="{EC50A4F2-DB14-2C6B-AFE7-8B0F2A96D484}"/>
              </a:ext>
            </a:extLst>
          </p:cNvPr>
          <p:cNvSpPr txBox="1"/>
          <p:nvPr/>
        </p:nvSpPr>
        <p:spPr>
          <a:xfrm>
            <a:off x="159587" y="856563"/>
            <a:ext cx="7453226" cy="369332"/>
          </a:xfrm>
          <a:prstGeom prst="rect">
            <a:avLst/>
          </a:prstGeom>
          <a:noFill/>
        </p:spPr>
        <p:txBody>
          <a:bodyPr wrap="square">
            <a:spAutoFit/>
          </a:bodyPr>
          <a:lstStyle/>
          <a:p>
            <a:r>
              <a:rPr lang="en-US" dirty="0"/>
              <a:t>1. Search “Task Scheduler” in the Start Menu and open the app shown.</a:t>
            </a:r>
          </a:p>
        </p:txBody>
      </p:sp>
      <p:pic>
        <p:nvPicPr>
          <p:cNvPr id="12" name="Picture 11">
            <a:extLst>
              <a:ext uri="{FF2B5EF4-FFF2-40B4-BE49-F238E27FC236}">
                <a16:creationId xmlns:a16="http://schemas.microsoft.com/office/drawing/2014/main" id="{C85FCB87-B55C-AA0C-DF5A-9D9C5FDFB521}"/>
              </a:ext>
            </a:extLst>
          </p:cNvPr>
          <p:cNvPicPr>
            <a:picLocks noChangeAspect="1"/>
          </p:cNvPicPr>
          <p:nvPr/>
        </p:nvPicPr>
        <p:blipFill>
          <a:blip r:embed="rId2"/>
          <a:srcRect l="1718" t="6755" r="7241" b="29688"/>
          <a:stretch>
            <a:fillRect/>
          </a:stretch>
        </p:blipFill>
        <p:spPr>
          <a:xfrm>
            <a:off x="930226" y="1225895"/>
            <a:ext cx="5911948" cy="3855109"/>
          </a:xfrm>
          <a:prstGeom prst="rect">
            <a:avLst/>
          </a:prstGeom>
        </p:spPr>
      </p:pic>
      <p:pic>
        <p:nvPicPr>
          <p:cNvPr id="13" name="Graphic 12" descr="Cursor with solid fill">
            <a:extLst>
              <a:ext uri="{FF2B5EF4-FFF2-40B4-BE49-F238E27FC236}">
                <a16:creationId xmlns:a16="http://schemas.microsoft.com/office/drawing/2014/main" id="{1212B087-7E52-0D79-C17D-B6F2E0ACDB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0684" y="2553043"/>
            <a:ext cx="914400" cy="914400"/>
          </a:xfrm>
          <a:prstGeom prst="rect">
            <a:avLst/>
          </a:prstGeom>
        </p:spPr>
      </p:pic>
      <p:sp>
        <p:nvSpPr>
          <p:cNvPr id="15" name="TextBox 14">
            <a:extLst>
              <a:ext uri="{FF2B5EF4-FFF2-40B4-BE49-F238E27FC236}">
                <a16:creationId xmlns:a16="http://schemas.microsoft.com/office/drawing/2014/main" id="{713D1C0B-08C8-E2C8-3DDA-BE91568F063E}"/>
              </a:ext>
            </a:extLst>
          </p:cNvPr>
          <p:cNvSpPr txBox="1"/>
          <p:nvPr/>
        </p:nvSpPr>
        <p:spPr>
          <a:xfrm>
            <a:off x="159587" y="5141194"/>
            <a:ext cx="7453226" cy="369332"/>
          </a:xfrm>
          <a:prstGeom prst="rect">
            <a:avLst/>
          </a:prstGeom>
          <a:noFill/>
        </p:spPr>
        <p:txBody>
          <a:bodyPr wrap="square">
            <a:spAutoFit/>
          </a:bodyPr>
          <a:lstStyle/>
          <a:p>
            <a:r>
              <a:rPr lang="en-US" dirty="0"/>
              <a:t>2. Select “Create a Task” in the top right corner of the window.</a:t>
            </a:r>
          </a:p>
        </p:txBody>
      </p:sp>
      <p:grpSp>
        <p:nvGrpSpPr>
          <p:cNvPr id="20" name="Group 19">
            <a:extLst>
              <a:ext uri="{FF2B5EF4-FFF2-40B4-BE49-F238E27FC236}">
                <a16:creationId xmlns:a16="http://schemas.microsoft.com/office/drawing/2014/main" id="{31725F64-7F3C-7D2F-2027-210729E27288}"/>
              </a:ext>
            </a:extLst>
          </p:cNvPr>
          <p:cNvGrpSpPr/>
          <p:nvPr/>
        </p:nvGrpSpPr>
        <p:grpSpPr>
          <a:xfrm>
            <a:off x="1441132" y="5570716"/>
            <a:ext cx="4922521" cy="3876136"/>
            <a:chOff x="1441132" y="5570716"/>
            <a:chExt cx="4922521" cy="3876136"/>
          </a:xfrm>
        </p:grpSpPr>
        <p:pic>
          <p:nvPicPr>
            <p:cNvPr id="17" name="Picture 16">
              <a:extLst>
                <a:ext uri="{FF2B5EF4-FFF2-40B4-BE49-F238E27FC236}">
                  <a16:creationId xmlns:a16="http://schemas.microsoft.com/office/drawing/2014/main" id="{860053B5-1442-E8F6-2D09-7C074CB98ADD}"/>
                </a:ext>
              </a:extLst>
            </p:cNvPr>
            <p:cNvPicPr>
              <a:picLocks noChangeAspect="1"/>
            </p:cNvPicPr>
            <p:nvPr/>
          </p:nvPicPr>
          <p:blipFill>
            <a:blip r:embed="rId4"/>
            <a:srcRect l="57610" b="37784"/>
            <a:stretch>
              <a:fillRect/>
            </a:stretch>
          </p:blipFill>
          <p:spPr>
            <a:xfrm>
              <a:off x="1441132" y="5570716"/>
              <a:ext cx="4922521" cy="3876136"/>
            </a:xfrm>
            <a:prstGeom prst="rect">
              <a:avLst/>
            </a:prstGeom>
          </p:spPr>
        </p:pic>
        <p:sp>
          <p:nvSpPr>
            <p:cNvPr id="19" name="Rectangle 18">
              <a:extLst>
                <a:ext uri="{FF2B5EF4-FFF2-40B4-BE49-F238E27FC236}">
                  <a16:creationId xmlns:a16="http://schemas.microsoft.com/office/drawing/2014/main" id="{5570065C-530F-E369-D045-0049185C23D0}"/>
                </a:ext>
              </a:extLst>
            </p:cNvPr>
            <p:cNvSpPr/>
            <p:nvPr/>
          </p:nvSpPr>
          <p:spPr>
            <a:xfrm>
              <a:off x="4225144" y="6489779"/>
              <a:ext cx="1942294" cy="149430"/>
            </a:xfrm>
            <a:prstGeom prst="rect">
              <a:avLst/>
            </a:prstGeom>
            <a:solidFill>
              <a:srgbClr val="15608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Cursor with solid fill">
              <a:extLst>
                <a:ext uri="{FF2B5EF4-FFF2-40B4-BE49-F238E27FC236}">
                  <a16:creationId xmlns:a16="http://schemas.microsoft.com/office/drawing/2014/main" id="{4A08AFCD-D067-6B66-7C3C-E8F13C1891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421" y="6367366"/>
              <a:ext cx="914400" cy="914400"/>
            </a:xfrm>
            <a:prstGeom prst="rect">
              <a:avLst/>
            </a:prstGeom>
          </p:spPr>
        </p:pic>
      </p:grpSp>
    </p:spTree>
    <p:extLst>
      <p:ext uri="{BB962C8B-B14F-4D97-AF65-F5344CB8AC3E}">
        <p14:creationId xmlns:p14="http://schemas.microsoft.com/office/powerpoint/2010/main" val="3558484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5043C-B452-8E31-E22F-8DB54CE63F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0252B6-1BEB-DA2F-04B4-B83CE5E1E4AE}"/>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for Task Scheduler</a:t>
            </a:r>
          </a:p>
        </p:txBody>
      </p:sp>
      <p:sp>
        <p:nvSpPr>
          <p:cNvPr id="3" name="Slide Number Placeholder 2">
            <a:extLst>
              <a:ext uri="{FF2B5EF4-FFF2-40B4-BE49-F238E27FC236}">
                <a16:creationId xmlns:a16="http://schemas.microsoft.com/office/drawing/2014/main" id="{501150D9-0D84-7D0F-51B9-1CB7F66910B1}"/>
              </a:ext>
            </a:extLst>
          </p:cNvPr>
          <p:cNvSpPr>
            <a:spLocks noGrp="1"/>
          </p:cNvSpPr>
          <p:nvPr>
            <p:ph type="sldNum" sz="quarter" idx="12"/>
          </p:nvPr>
        </p:nvSpPr>
        <p:spPr/>
        <p:txBody>
          <a:bodyPr/>
          <a:lstStyle/>
          <a:p>
            <a:fld id="{3DE2C916-6F1E-4075-B034-0F55610526B3}" type="slidenum">
              <a:rPr lang="en-US" smtClean="0"/>
              <a:t>13</a:t>
            </a:fld>
            <a:endParaRPr lang="en-US"/>
          </a:p>
        </p:txBody>
      </p:sp>
      <p:sp>
        <p:nvSpPr>
          <p:cNvPr id="10" name="TextBox 9">
            <a:extLst>
              <a:ext uri="{FF2B5EF4-FFF2-40B4-BE49-F238E27FC236}">
                <a16:creationId xmlns:a16="http://schemas.microsoft.com/office/drawing/2014/main" id="{6AF2756D-65E2-EE87-23C6-E204F9263428}"/>
              </a:ext>
            </a:extLst>
          </p:cNvPr>
          <p:cNvSpPr txBox="1"/>
          <p:nvPr/>
        </p:nvSpPr>
        <p:spPr>
          <a:xfrm>
            <a:off x="159587" y="856563"/>
            <a:ext cx="7453226" cy="1200329"/>
          </a:xfrm>
          <a:prstGeom prst="rect">
            <a:avLst/>
          </a:prstGeom>
          <a:noFill/>
        </p:spPr>
        <p:txBody>
          <a:bodyPr wrap="square">
            <a:spAutoFit/>
          </a:bodyPr>
          <a:lstStyle/>
          <a:p>
            <a:r>
              <a:rPr lang="en-US" dirty="0"/>
              <a:t>3. Fill out the respective fields for each tab:</a:t>
            </a:r>
          </a:p>
          <a:p>
            <a:pPr marL="742950" lvl="1" indent="-285750">
              <a:buFont typeface="Arial" panose="020B0604020202020204" pitchFamily="34" charset="0"/>
              <a:buChar char="•"/>
            </a:pPr>
            <a:r>
              <a:rPr lang="en-US" b="1" dirty="0"/>
              <a:t>Name:</a:t>
            </a:r>
            <a:r>
              <a:rPr lang="en-US" dirty="0"/>
              <a:t> Convert 2 PPTX</a:t>
            </a:r>
          </a:p>
          <a:p>
            <a:pPr marL="742950" lvl="1" indent="-285750">
              <a:buFont typeface="Arial" panose="020B0604020202020204" pitchFamily="34" charset="0"/>
              <a:buChar char="•"/>
            </a:pPr>
            <a:r>
              <a:rPr lang="en-US" b="1" dirty="0"/>
              <a:t>Description: </a:t>
            </a:r>
            <a:r>
              <a:rPr lang="en-US" dirty="0"/>
              <a:t>Convert a batch of {25} Publisher files to PowerPoint files on a daily basis.</a:t>
            </a:r>
          </a:p>
        </p:txBody>
      </p:sp>
      <p:sp>
        <p:nvSpPr>
          <p:cNvPr id="15" name="TextBox 14">
            <a:extLst>
              <a:ext uri="{FF2B5EF4-FFF2-40B4-BE49-F238E27FC236}">
                <a16:creationId xmlns:a16="http://schemas.microsoft.com/office/drawing/2014/main" id="{540B9B19-3101-0AD0-7C65-C195A577CDB5}"/>
              </a:ext>
            </a:extLst>
          </p:cNvPr>
          <p:cNvSpPr txBox="1"/>
          <p:nvPr/>
        </p:nvSpPr>
        <p:spPr>
          <a:xfrm>
            <a:off x="159587" y="7071594"/>
            <a:ext cx="7453226" cy="369332"/>
          </a:xfrm>
          <a:prstGeom prst="rect">
            <a:avLst/>
          </a:prstGeom>
          <a:noFill/>
        </p:spPr>
        <p:txBody>
          <a:bodyPr wrap="square">
            <a:spAutoFit/>
          </a:bodyPr>
          <a:lstStyle/>
          <a:p>
            <a:r>
              <a:rPr lang="en-US" dirty="0"/>
              <a:t>4. Navigate to the</a:t>
            </a:r>
            <a:r>
              <a:rPr lang="en-US" b="1" dirty="0"/>
              <a:t> Triggers </a:t>
            </a:r>
            <a:r>
              <a:rPr lang="en-US" dirty="0"/>
              <a:t>tab and click </a:t>
            </a:r>
            <a:r>
              <a:rPr lang="en-US" i="1" dirty="0"/>
              <a:t>New</a:t>
            </a:r>
          </a:p>
        </p:txBody>
      </p:sp>
      <p:pic>
        <p:nvPicPr>
          <p:cNvPr id="5" name="Picture 4">
            <a:extLst>
              <a:ext uri="{FF2B5EF4-FFF2-40B4-BE49-F238E27FC236}">
                <a16:creationId xmlns:a16="http://schemas.microsoft.com/office/drawing/2014/main" id="{D68DC84B-69AD-0CCB-EC90-E152BB68FBAF}"/>
              </a:ext>
            </a:extLst>
          </p:cNvPr>
          <p:cNvPicPr>
            <a:picLocks noChangeAspect="1"/>
          </p:cNvPicPr>
          <p:nvPr/>
        </p:nvPicPr>
        <p:blipFill>
          <a:blip r:embed="rId2"/>
          <a:stretch>
            <a:fillRect/>
          </a:stretch>
        </p:blipFill>
        <p:spPr>
          <a:xfrm>
            <a:off x="866353" y="2166889"/>
            <a:ext cx="6039693" cy="4601217"/>
          </a:xfrm>
          <a:prstGeom prst="rect">
            <a:avLst/>
          </a:prstGeom>
        </p:spPr>
      </p:pic>
    </p:spTree>
    <p:extLst>
      <p:ext uri="{BB962C8B-B14F-4D97-AF65-F5344CB8AC3E}">
        <p14:creationId xmlns:p14="http://schemas.microsoft.com/office/powerpoint/2010/main" val="3392943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523E6-4939-2FBB-F7BC-A637B513FA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4EE770-86B6-3940-5E7E-684998F74CC8}"/>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for Task Scheduler</a:t>
            </a:r>
          </a:p>
        </p:txBody>
      </p:sp>
      <p:sp>
        <p:nvSpPr>
          <p:cNvPr id="3" name="Slide Number Placeholder 2">
            <a:extLst>
              <a:ext uri="{FF2B5EF4-FFF2-40B4-BE49-F238E27FC236}">
                <a16:creationId xmlns:a16="http://schemas.microsoft.com/office/drawing/2014/main" id="{01C9EA3F-4978-EB5D-835B-4C054397971B}"/>
              </a:ext>
            </a:extLst>
          </p:cNvPr>
          <p:cNvSpPr>
            <a:spLocks noGrp="1"/>
          </p:cNvSpPr>
          <p:nvPr>
            <p:ph type="sldNum" sz="quarter" idx="12"/>
          </p:nvPr>
        </p:nvSpPr>
        <p:spPr/>
        <p:txBody>
          <a:bodyPr/>
          <a:lstStyle/>
          <a:p>
            <a:fld id="{3DE2C916-6F1E-4075-B034-0F55610526B3}" type="slidenum">
              <a:rPr lang="en-US" smtClean="0"/>
              <a:t>14</a:t>
            </a:fld>
            <a:endParaRPr lang="en-US"/>
          </a:p>
        </p:txBody>
      </p:sp>
      <p:sp>
        <p:nvSpPr>
          <p:cNvPr id="10" name="TextBox 9">
            <a:extLst>
              <a:ext uri="{FF2B5EF4-FFF2-40B4-BE49-F238E27FC236}">
                <a16:creationId xmlns:a16="http://schemas.microsoft.com/office/drawing/2014/main" id="{C15C24E6-5BB2-B81A-A748-985937DA4E32}"/>
              </a:ext>
            </a:extLst>
          </p:cNvPr>
          <p:cNvSpPr txBox="1"/>
          <p:nvPr/>
        </p:nvSpPr>
        <p:spPr>
          <a:xfrm>
            <a:off x="159587" y="856563"/>
            <a:ext cx="7453226" cy="1754326"/>
          </a:xfrm>
          <a:prstGeom prst="rect">
            <a:avLst/>
          </a:prstGeom>
          <a:noFill/>
        </p:spPr>
        <p:txBody>
          <a:bodyPr wrap="square">
            <a:spAutoFit/>
          </a:bodyPr>
          <a:lstStyle/>
          <a:p>
            <a:r>
              <a:rPr lang="en-US" dirty="0"/>
              <a:t>5. User can configure these settings as desired, but here’s the recommended settings</a:t>
            </a:r>
          </a:p>
          <a:p>
            <a:pPr lvl="1"/>
            <a:r>
              <a:rPr lang="en-US" b="1" dirty="0"/>
              <a:t>Begin the task: </a:t>
            </a:r>
            <a:r>
              <a:rPr lang="en-US" dirty="0"/>
              <a:t>On a schedule</a:t>
            </a:r>
          </a:p>
          <a:p>
            <a:pPr lvl="1"/>
            <a:r>
              <a:rPr lang="en-US" b="1" dirty="0"/>
              <a:t>Weekly: </a:t>
            </a:r>
            <a:r>
              <a:rPr lang="en-US" dirty="0"/>
              <a:t>Monday thru Friday</a:t>
            </a:r>
          </a:p>
          <a:p>
            <a:pPr lvl="1"/>
            <a:r>
              <a:rPr lang="en-US" b="1" dirty="0"/>
              <a:t>Start: </a:t>
            </a:r>
            <a:r>
              <a:rPr lang="en-US" dirty="0"/>
              <a:t>Today 8:00 am </a:t>
            </a:r>
          </a:p>
          <a:p>
            <a:pPr lvl="1"/>
            <a:r>
              <a:rPr lang="en-US" b="1" dirty="0"/>
              <a:t>Stop Task if it runs longer than:</a:t>
            </a:r>
            <a:r>
              <a:rPr lang="en-US" dirty="0"/>
              <a:t>1 hour</a:t>
            </a:r>
          </a:p>
        </p:txBody>
      </p:sp>
      <p:sp>
        <p:nvSpPr>
          <p:cNvPr id="15" name="TextBox 14">
            <a:extLst>
              <a:ext uri="{FF2B5EF4-FFF2-40B4-BE49-F238E27FC236}">
                <a16:creationId xmlns:a16="http://schemas.microsoft.com/office/drawing/2014/main" id="{A618AC1E-17FA-57FC-3BEE-A28DEDF08728}"/>
              </a:ext>
            </a:extLst>
          </p:cNvPr>
          <p:cNvSpPr txBox="1"/>
          <p:nvPr/>
        </p:nvSpPr>
        <p:spPr>
          <a:xfrm>
            <a:off x="159587" y="7611309"/>
            <a:ext cx="7453226" cy="369332"/>
          </a:xfrm>
          <a:prstGeom prst="rect">
            <a:avLst/>
          </a:prstGeom>
          <a:noFill/>
        </p:spPr>
        <p:txBody>
          <a:bodyPr wrap="square">
            <a:spAutoFit/>
          </a:bodyPr>
          <a:lstStyle/>
          <a:p>
            <a:r>
              <a:rPr lang="en-US" dirty="0"/>
              <a:t>6. Navigate to the </a:t>
            </a:r>
            <a:r>
              <a:rPr lang="en-US" b="1" dirty="0"/>
              <a:t>Actions </a:t>
            </a:r>
            <a:r>
              <a:rPr lang="en-US" dirty="0"/>
              <a:t>tab and click </a:t>
            </a:r>
            <a:r>
              <a:rPr lang="en-US" i="1" dirty="0"/>
              <a:t>New</a:t>
            </a:r>
          </a:p>
        </p:txBody>
      </p:sp>
      <p:pic>
        <p:nvPicPr>
          <p:cNvPr id="5" name="Picture 4">
            <a:extLst>
              <a:ext uri="{FF2B5EF4-FFF2-40B4-BE49-F238E27FC236}">
                <a16:creationId xmlns:a16="http://schemas.microsoft.com/office/drawing/2014/main" id="{57F3E926-C22F-602A-9533-66B3E1384091}"/>
              </a:ext>
            </a:extLst>
          </p:cNvPr>
          <p:cNvPicPr>
            <a:picLocks noChangeAspect="1"/>
          </p:cNvPicPr>
          <p:nvPr/>
        </p:nvPicPr>
        <p:blipFill>
          <a:blip r:embed="rId2"/>
          <a:stretch>
            <a:fillRect/>
          </a:stretch>
        </p:blipFill>
        <p:spPr>
          <a:xfrm>
            <a:off x="1080696" y="2571407"/>
            <a:ext cx="5611008" cy="4915586"/>
          </a:xfrm>
          <a:prstGeom prst="rect">
            <a:avLst/>
          </a:prstGeom>
        </p:spPr>
      </p:pic>
    </p:spTree>
    <p:extLst>
      <p:ext uri="{BB962C8B-B14F-4D97-AF65-F5344CB8AC3E}">
        <p14:creationId xmlns:p14="http://schemas.microsoft.com/office/powerpoint/2010/main" val="2094711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74E9D-9BEC-74A6-2217-5D7CCA4EE3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ECED51-8B58-110B-2DA5-C0F41BC54688}"/>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for Task Scheduler</a:t>
            </a:r>
          </a:p>
        </p:txBody>
      </p:sp>
      <p:sp>
        <p:nvSpPr>
          <p:cNvPr id="3" name="Slide Number Placeholder 2">
            <a:extLst>
              <a:ext uri="{FF2B5EF4-FFF2-40B4-BE49-F238E27FC236}">
                <a16:creationId xmlns:a16="http://schemas.microsoft.com/office/drawing/2014/main" id="{E0899991-16B9-1FD3-6151-1254F2007C87}"/>
              </a:ext>
            </a:extLst>
          </p:cNvPr>
          <p:cNvSpPr>
            <a:spLocks noGrp="1"/>
          </p:cNvSpPr>
          <p:nvPr>
            <p:ph type="sldNum" sz="quarter" idx="12"/>
          </p:nvPr>
        </p:nvSpPr>
        <p:spPr/>
        <p:txBody>
          <a:bodyPr/>
          <a:lstStyle/>
          <a:p>
            <a:fld id="{3DE2C916-6F1E-4075-B034-0F55610526B3}" type="slidenum">
              <a:rPr lang="en-US" smtClean="0"/>
              <a:t>15</a:t>
            </a:fld>
            <a:endParaRPr lang="en-US"/>
          </a:p>
        </p:txBody>
      </p:sp>
      <p:sp>
        <p:nvSpPr>
          <p:cNvPr id="10" name="TextBox 9">
            <a:extLst>
              <a:ext uri="{FF2B5EF4-FFF2-40B4-BE49-F238E27FC236}">
                <a16:creationId xmlns:a16="http://schemas.microsoft.com/office/drawing/2014/main" id="{800F6B04-8EDC-D39A-EF03-67494AF9D27E}"/>
              </a:ext>
            </a:extLst>
          </p:cNvPr>
          <p:cNvSpPr txBox="1"/>
          <p:nvPr/>
        </p:nvSpPr>
        <p:spPr>
          <a:xfrm>
            <a:off x="159587" y="856563"/>
            <a:ext cx="7453226" cy="2822376"/>
          </a:xfrm>
          <a:prstGeom prst="rect">
            <a:avLst/>
          </a:prstGeom>
          <a:noFill/>
        </p:spPr>
        <p:txBody>
          <a:bodyPr wrap="square">
            <a:spAutoFit/>
          </a:bodyPr>
          <a:lstStyle/>
          <a:p>
            <a:r>
              <a:rPr lang="en-US" dirty="0"/>
              <a:t>7. Navigate to the </a:t>
            </a:r>
            <a:r>
              <a:rPr lang="en-US" b="1" dirty="0"/>
              <a:t>Actions </a:t>
            </a:r>
            <a:r>
              <a:rPr lang="en-US" dirty="0"/>
              <a:t>tab and click New</a:t>
            </a:r>
          </a:p>
          <a:p>
            <a:pPr lvl="1">
              <a:lnSpc>
                <a:spcPct val="150000"/>
              </a:lnSpc>
            </a:pPr>
            <a:r>
              <a:rPr lang="en-US" b="1" dirty="0"/>
              <a:t>Action: </a:t>
            </a:r>
            <a:r>
              <a:rPr lang="en-US" dirty="0"/>
              <a:t>Start a program</a:t>
            </a:r>
          </a:p>
          <a:p>
            <a:pPr lvl="1">
              <a:lnSpc>
                <a:spcPct val="150000"/>
              </a:lnSpc>
            </a:pPr>
            <a:r>
              <a:rPr lang="en-US" b="1" dirty="0"/>
              <a:t>Program/script: </a:t>
            </a:r>
            <a:r>
              <a:rPr lang="en-US" dirty="0"/>
              <a:t>C:\Users</a:t>
            </a:r>
            <a:r>
              <a:rPr lang="en-US" u="sng" dirty="0">
                <a:highlight>
                  <a:srgbClr val="FFFF00"/>
                </a:highlight>
              </a:rPr>
              <a:t>\{YOUR C-DRIVE/USER NAME}</a:t>
            </a:r>
            <a:r>
              <a:rPr lang="en-US" dirty="0"/>
              <a:t>\</a:t>
            </a:r>
            <a:r>
              <a:rPr lang="en-US" dirty="0" err="1"/>
              <a:t>AppData</a:t>
            </a:r>
            <a:r>
              <a:rPr lang="en-US" dirty="0"/>
              <a:t>\Local\Microsoft\</a:t>
            </a:r>
            <a:r>
              <a:rPr lang="en-US" dirty="0" err="1"/>
              <a:t>WindowsApps</a:t>
            </a:r>
            <a:r>
              <a:rPr lang="en-US" dirty="0"/>
              <a:t>\python.exe</a:t>
            </a:r>
          </a:p>
          <a:p>
            <a:pPr lvl="1">
              <a:lnSpc>
                <a:spcPct val="150000"/>
              </a:lnSpc>
            </a:pPr>
            <a:r>
              <a:rPr lang="en-US" b="1" dirty="0"/>
              <a:t>Add arguments: </a:t>
            </a:r>
            <a:r>
              <a:rPr lang="en-US" dirty="0"/>
              <a:t>auto_convert2pptx.py</a:t>
            </a:r>
          </a:p>
          <a:p>
            <a:pPr lvl="1">
              <a:lnSpc>
                <a:spcPct val="150000"/>
              </a:lnSpc>
            </a:pPr>
            <a:r>
              <a:rPr lang="en-US" b="1" dirty="0"/>
              <a:t>Start in: </a:t>
            </a:r>
            <a:r>
              <a:rPr lang="en-US" u="sng" dirty="0">
                <a:highlight>
                  <a:srgbClr val="FFFF00"/>
                </a:highlight>
              </a:rPr>
              <a:t>C:\Users\smg1156\Desktop\AutoCAD</a:t>
            </a:r>
          </a:p>
          <a:p>
            <a:pPr lvl="2">
              <a:lnSpc>
                <a:spcPct val="150000"/>
              </a:lnSpc>
            </a:pPr>
            <a:r>
              <a:rPr lang="en-US" dirty="0"/>
              <a:t>	{Replace with folder where your script lives.}</a:t>
            </a:r>
          </a:p>
        </p:txBody>
      </p:sp>
      <p:sp>
        <p:nvSpPr>
          <p:cNvPr id="15" name="TextBox 14">
            <a:extLst>
              <a:ext uri="{FF2B5EF4-FFF2-40B4-BE49-F238E27FC236}">
                <a16:creationId xmlns:a16="http://schemas.microsoft.com/office/drawing/2014/main" id="{513EFF51-634A-1A30-415C-40DA306F63F5}"/>
              </a:ext>
            </a:extLst>
          </p:cNvPr>
          <p:cNvSpPr txBox="1"/>
          <p:nvPr/>
        </p:nvSpPr>
        <p:spPr>
          <a:xfrm>
            <a:off x="159587" y="8571442"/>
            <a:ext cx="7453226" cy="369332"/>
          </a:xfrm>
          <a:prstGeom prst="rect">
            <a:avLst/>
          </a:prstGeom>
          <a:noFill/>
        </p:spPr>
        <p:txBody>
          <a:bodyPr wrap="square">
            <a:spAutoFit/>
          </a:bodyPr>
          <a:lstStyle/>
          <a:p>
            <a:r>
              <a:rPr lang="en-US" dirty="0"/>
              <a:t>8. Click </a:t>
            </a:r>
            <a:r>
              <a:rPr lang="en-US" i="1" dirty="0"/>
              <a:t>Ok</a:t>
            </a:r>
            <a:r>
              <a:rPr lang="en-US" dirty="0"/>
              <a:t> to close window.</a:t>
            </a:r>
          </a:p>
        </p:txBody>
      </p:sp>
      <p:pic>
        <p:nvPicPr>
          <p:cNvPr id="5" name="Picture 4">
            <a:extLst>
              <a:ext uri="{FF2B5EF4-FFF2-40B4-BE49-F238E27FC236}">
                <a16:creationId xmlns:a16="http://schemas.microsoft.com/office/drawing/2014/main" id="{1DD47335-7C96-0221-6B56-56A54C69E1F2}"/>
              </a:ext>
            </a:extLst>
          </p:cNvPr>
          <p:cNvPicPr>
            <a:picLocks noChangeAspect="1"/>
          </p:cNvPicPr>
          <p:nvPr/>
        </p:nvPicPr>
        <p:blipFill>
          <a:blip r:embed="rId2"/>
          <a:stretch>
            <a:fillRect/>
          </a:stretch>
        </p:blipFill>
        <p:spPr>
          <a:xfrm>
            <a:off x="1766591" y="3767424"/>
            <a:ext cx="4239217" cy="4715533"/>
          </a:xfrm>
          <a:prstGeom prst="rect">
            <a:avLst/>
          </a:prstGeom>
        </p:spPr>
      </p:pic>
    </p:spTree>
    <p:extLst>
      <p:ext uri="{BB962C8B-B14F-4D97-AF65-F5344CB8AC3E}">
        <p14:creationId xmlns:p14="http://schemas.microsoft.com/office/powerpoint/2010/main" val="1178689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D15A3-7948-5DBB-2B4D-AB5251A1D8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650AA9-36AA-AD73-5F34-9EAD6864A9D6}"/>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for Task Scheduler</a:t>
            </a:r>
          </a:p>
        </p:txBody>
      </p:sp>
      <p:sp>
        <p:nvSpPr>
          <p:cNvPr id="3" name="Slide Number Placeholder 2">
            <a:extLst>
              <a:ext uri="{FF2B5EF4-FFF2-40B4-BE49-F238E27FC236}">
                <a16:creationId xmlns:a16="http://schemas.microsoft.com/office/drawing/2014/main" id="{97FE8D91-018D-BFEE-E26F-050F8D05601C}"/>
              </a:ext>
            </a:extLst>
          </p:cNvPr>
          <p:cNvSpPr>
            <a:spLocks noGrp="1"/>
          </p:cNvSpPr>
          <p:nvPr>
            <p:ph type="sldNum" sz="quarter" idx="12"/>
          </p:nvPr>
        </p:nvSpPr>
        <p:spPr/>
        <p:txBody>
          <a:bodyPr/>
          <a:lstStyle/>
          <a:p>
            <a:fld id="{3DE2C916-6F1E-4075-B034-0F55610526B3}" type="slidenum">
              <a:rPr lang="en-US" smtClean="0"/>
              <a:t>16</a:t>
            </a:fld>
            <a:endParaRPr lang="en-US"/>
          </a:p>
        </p:txBody>
      </p:sp>
      <p:sp>
        <p:nvSpPr>
          <p:cNvPr id="10" name="TextBox 9">
            <a:extLst>
              <a:ext uri="{FF2B5EF4-FFF2-40B4-BE49-F238E27FC236}">
                <a16:creationId xmlns:a16="http://schemas.microsoft.com/office/drawing/2014/main" id="{D0FFA299-3D7F-13C5-B43A-B08C4C070F75}"/>
              </a:ext>
            </a:extLst>
          </p:cNvPr>
          <p:cNvSpPr txBox="1"/>
          <p:nvPr/>
        </p:nvSpPr>
        <p:spPr>
          <a:xfrm>
            <a:off x="159587" y="856563"/>
            <a:ext cx="7453226" cy="369332"/>
          </a:xfrm>
          <a:prstGeom prst="rect">
            <a:avLst/>
          </a:prstGeom>
          <a:noFill/>
        </p:spPr>
        <p:txBody>
          <a:bodyPr wrap="square">
            <a:spAutoFit/>
          </a:bodyPr>
          <a:lstStyle/>
          <a:p>
            <a:r>
              <a:rPr lang="en-US" dirty="0"/>
              <a:t>9. Click </a:t>
            </a:r>
            <a:r>
              <a:rPr lang="en-US" i="1" dirty="0"/>
              <a:t>OK </a:t>
            </a:r>
            <a:r>
              <a:rPr lang="en-US" dirty="0"/>
              <a:t>once again to complete creating a new task.</a:t>
            </a:r>
          </a:p>
        </p:txBody>
      </p:sp>
      <p:pic>
        <p:nvPicPr>
          <p:cNvPr id="8" name="Picture 7">
            <a:extLst>
              <a:ext uri="{FF2B5EF4-FFF2-40B4-BE49-F238E27FC236}">
                <a16:creationId xmlns:a16="http://schemas.microsoft.com/office/drawing/2014/main" id="{6B578718-4FFB-1900-15C8-A35A403689E1}"/>
              </a:ext>
            </a:extLst>
          </p:cNvPr>
          <p:cNvPicPr>
            <a:picLocks noChangeAspect="1"/>
          </p:cNvPicPr>
          <p:nvPr/>
        </p:nvPicPr>
        <p:blipFill>
          <a:blip r:embed="rId2"/>
          <a:stretch>
            <a:fillRect/>
          </a:stretch>
        </p:blipFill>
        <p:spPr>
          <a:xfrm>
            <a:off x="269864" y="1398391"/>
            <a:ext cx="7232672" cy="4754215"/>
          </a:xfrm>
          <a:prstGeom prst="rect">
            <a:avLst/>
          </a:prstGeom>
        </p:spPr>
      </p:pic>
      <p:sp>
        <p:nvSpPr>
          <p:cNvPr id="9" name="TextBox 8">
            <a:extLst>
              <a:ext uri="{FF2B5EF4-FFF2-40B4-BE49-F238E27FC236}">
                <a16:creationId xmlns:a16="http://schemas.microsoft.com/office/drawing/2014/main" id="{A0B2451F-33B3-B493-248D-17E7B48192F0}"/>
              </a:ext>
            </a:extLst>
          </p:cNvPr>
          <p:cNvSpPr txBox="1"/>
          <p:nvPr/>
        </p:nvSpPr>
        <p:spPr>
          <a:xfrm>
            <a:off x="159587" y="6325102"/>
            <a:ext cx="7453226" cy="369332"/>
          </a:xfrm>
          <a:prstGeom prst="rect">
            <a:avLst/>
          </a:prstGeom>
          <a:noFill/>
        </p:spPr>
        <p:txBody>
          <a:bodyPr wrap="square">
            <a:spAutoFit/>
          </a:bodyPr>
          <a:lstStyle/>
          <a:p>
            <a:r>
              <a:rPr lang="en-US" dirty="0"/>
              <a:t>See Troubleshooting for additional information.</a:t>
            </a:r>
          </a:p>
        </p:txBody>
      </p:sp>
    </p:spTree>
    <p:extLst>
      <p:ext uri="{BB962C8B-B14F-4D97-AF65-F5344CB8AC3E}">
        <p14:creationId xmlns:p14="http://schemas.microsoft.com/office/powerpoint/2010/main" val="20992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76119-068C-9CDF-1ECE-64056FE293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13358D-5263-CB9D-456A-20D54559C2B2}"/>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Desktop Shortcut</a:t>
            </a:r>
          </a:p>
        </p:txBody>
      </p:sp>
      <p:sp>
        <p:nvSpPr>
          <p:cNvPr id="3" name="Slide Number Placeholder 2">
            <a:extLst>
              <a:ext uri="{FF2B5EF4-FFF2-40B4-BE49-F238E27FC236}">
                <a16:creationId xmlns:a16="http://schemas.microsoft.com/office/drawing/2014/main" id="{0F7C052C-67D0-56D6-567E-4185A3B367DB}"/>
              </a:ext>
            </a:extLst>
          </p:cNvPr>
          <p:cNvSpPr>
            <a:spLocks noGrp="1"/>
          </p:cNvSpPr>
          <p:nvPr>
            <p:ph type="sldNum" sz="quarter" idx="12"/>
          </p:nvPr>
        </p:nvSpPr>
        <p:spPr/>
        <p:txBody>
          <a:bodyPr/>
          <a:lstStyle/>
          <a:p>
            <a:fld id="{3DE2C916-6F1E-4075-B034-0F55610526B3}" type="slidenum">
              <a:rPr lang="en-US" smtClean="0"/>
              <a:t>17</a:t>
            </a:fld>
            <a:endParaRPr lang="en-US"/>
          </a:p>
        </p:txBody>
      </p:sp>
      <p:sp>
        <p:nvSpPr>
          <p:cNvPr id="10" name="TextBox 9">
            <a:extLst>
              <a:ext uri="{FF2B5EF4-FFF2-40B4-BE49-F238E27FC236}">
                <a16:creationId xmlns:a16="http://schemas.microsoft.com/office/drawing/2014/main" id="{CD08019F-CE97-8AA0-FA58-285775873DE6}"/>
              </a:ext>
            </a:extLst>
          </p:cNvPr>
          <p:cNvSpPr txBox="1"/>
          <p:nvPr/>
        </p:nvSpPr>
        <p:spPr>
          <a:xfrm>
            <a:off x="159587" y="899549"/>
            <a:ext cx="7453226" cy="369332"/>
          </a:xfrm>
          <a:prstGeom prst="rect">
            <a:avLst/>
          </a:prstGeom>
          <a:noFill/>
        </p:spPr>
        <p:txBody>
          <a:bodyPr wrap="square">
            <a:spAutoFit/>
          </a:bodyPr>
          <a:lstStyle/>
          <a:p>
            <a:r>
              <a:rPr lang="en-US" dirty="0"/>
              <a:t>1. Go to Desktop, right-click and select </a:t>
            </a:r>
            <a:r>
              <a:rPr lang="en-US" i="1" dirty="0"/>
              <a:t>New</a:t>
            </a:r>
            <a:r>
              <a:rPr lang="en-US" dirty="0"/>
              <a:t> &gt; </a:t>
            </a:r>
            <a:r>
              <a:rPr lang="en-US" i="1" dirty="0"/>
              <a:t>Shortcut</a:t>
            </a:r>
          </a:p>
        </p:txBody>
      </p:sp>
      <p:sp>
        <p:nvSpPr>
          <p:cNvPr id="15" name="TextBox 14">
            <a:extLst>
              <a:ext uri="{FF2B5EF4-FFF2-40B4-BE49-F238E27FC236}">
                <a16:creationId xmlns:a16="http://schemas.microsoft.com/office/drawing/2014/main" id="{54CB81DD-6E9C-09CE-9927-81F7E210B8E7}"/>
              </a:ext>
            </a:extLst>
          </p:cNvPr>
          <p:cNvSpPr txBox="1"/>
          <p:nvPr/>
        </p:nvSpPr>
        <p:spPr>
          <a:xfrm>
            <a:off x="159587" y="5737275"/>
            <a:ext cx="7453226" cy="369332"/>
          </a:xfrm>
          <a:prstGeom prst="rect">
            <a:avLst/>
          </a:prstGeom>
          <a:noFill/>
        </p:spPr>
        <p:txBody>
          <a:bodyPr wrap="square">
            <a:spAutoFit/>
          </a:bodyPr>
          <a:lstStyle/>
          <a:p>
            <a:r>
              <a:rPr lang="en-US" dirty="0"/>
              <a:t>2. A window will pop-up prompting you to enter a file path for a program.</a:t>
            </a:r>
          </a:p>
        </p:txBody>
      </p:sp>
      <p:pic>
        <p:nvPicPr>
          <p:cNvPr id="5" name="Picture 4">
            <a:extLst>
              <a:ext uri="{FF2B5EF4-FFF2-40B4-BE49-F238E27FC236}">
                <a16:creationId xmlns:a16="http://schemas.microsoft.com/office/drawing/2014/main" id="{AEAC03F4-EBA6-31F6-18E0-A763AD59E6AC}"/>
              </a:ext>
            </a:extLst>
          </p:cNvPr>
          <p:cNvPicPr>
            <a:picLocks noChangeAspect="1"/>
          </p:cNvPicPr>
          <p:nvPr/>
        </p:nvPicPr>
        <p:blipFill>
          <a:blip r:embed="rId2"/>
          <a:stretch>
            <a:fillRect/>
          </a:stretch>
        </p:blipFill>
        <p:spPr>
          <a:xfrm>
            <a:off x="159587" y="1428315"/>
            <a:ext cx="7376081" cy="4149526"/>
          </a:xfrm>
          <a:prstGeom prst="rect">
            <a:avLst/>
          </a:prstGeom>
        </p:spPr>
      </p:pic>
      <p:pic>
        <p:nvPicPr>
          <p:cNvPr id="7" name="Graphic 6" descr="Cursor with solid fill">
            <a:extLst>
              <a:ext uri="{FF2B5EF4-FFF2-40B4-BE49-F238E27FC236}">
                <a16:creationId xmlns:a16="http://schemas.microsoft.com/office/drawing/2014/main" id="{ACF67E1E-F84F-229F-E623-C65C745595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25772" y="3555093"/>
            <a:ext cx="914400" cy="914400"/>
          </a:xfrm>
          <a:prstGeom prst="rect">
            <a:avLst/>
          </a:prstGeom>
        </p:spPr>
      </p:pic>
      <p:pic>
        <p:nvPicPr>
          <p:cNvPr id="6" name="Picture 5">
            <a:extLst>
              <a:ext uri="{FF2B5EF4-FFF2-40B4-BE49-F238E27FC236}">
                <a16:creationId xmlns:a16="http://schemas.microsoft.com/office/drawing/2014/main" id="{D013FA61-4091-29F2-C9C0-E0823392880C}"/>
              </a:ext>
            </a:extLst>
          </p:cNvPr>
          <p:cNvPicPr>
            <a:picLocks noChangeAspect="1"/>
          </p:cNvPicPr>
          <p:nvPr/>
        </p:nvPicPr>
        <p:blipFill>
          <a:blip r:embed="rId4"/>
          <a:stretch>
            <a:fillRect/>
          </a:stretch>
        </p:blipFill>
        <p:spPr>
          <a:xfrm>
            <a:off x="1415960" y="6112930"/>
            <a:ext cx="4863334" cy="3745236"/>
          </a:xfrm>
          <a:prstGeom prst="rect">
            <a:avLst/>
          </a:prstGeom>
        </p:spPr>
      </p:pic>
    </p:spTree>
    <p:extLst>
      <p:ext uri="{BB962C8B-B14F-4D97-AF65-F5344CB8AC3E}">
        <p14:creationId xmlns:p14="http://schemas.microsoft.com/office/powerpoint/2010/main" val="1186138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4CDD-E3AC-C827-44E3-647708C279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9D8E1D-B984-5B0E-FC1C-7C8D2F041AD3}"/>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Desktop Shortcut</a:t>
            </a:r>
          </a:p>
        </p:txBody>
      </p:sp>
      <p:sp>
        <p:nvSpPr>
          <p:cNvPr id="3" name="Slide Number Placeholder 2">
            <a:extLst>
              <a:ext uri="{FF2B5EF4-FFF2-40B4-BE49-F238E27FC236}">
                <a16:creationId xmlns:a16="http://schemas.microsoft.com/office/drawing/2014/main" id="{84BF54F7-3159-605F-5A6E-C84A83E21632}"/>
              </a:ext>
            </a:extLst>
          </p:cNvPr>
          <p:cNvSpPr>
            <a:spLocks noGrp="1"/>
          </p:cNvSpPr>
          <p:nvPr>
            <p:ph type="sldNum" sz="quarter" idx="12"/>
          </p:nvPr>
        </p:nvSpPr>
        <p:spPr/>
        <p:txBody>
          <a:bodyPr/>
          <a:lstStyle/>
          <a:p>
            <a:fld id="{3DE2C916-6F1E-4075-B034-0F55610526B3}" type="slidenum">
              <a:rPr lang="en-US" smtClean="0"/>
              <a:t>18</a:t>
            </a:fld>
            <a:endParaRPr lang="en-US"/>
          </a:p>
        </p:txBody>
      </p:sp>
      <p:sp>
        <p:nvSpPr>
          <p:cNvPr id="10" name="TextBox 9">
            <a:extLst>
              <a:ext uri="{FF2B5EF4-FFF2-40B4-BE49-F238E27FC236}">
                <a16:creationId xmlns:a16="http://schemas.microsoft.com/office/drawing/2014/main" id="{18B84F99-6923-545A-41A4-22AD6EFECE43}"/>
              </a:ext>
            </a:extLst>
          </p:cNvPr>
          <p:cNvSpPr txBox="1"/>
          <p:nvPr/>
        </p:nvSpPr>
        <p:spPr>
          <a:xfrm>
            <a:off x="159587" y="899549"/>
            <a:ext cx="7453226" cy="1200329"/>
          </a:xfrm>
          <a:prstGeom prst="rect">
            <a:avLst/>
          </a:prstGeom>
          <a:noFill/>
        </p:spPr>
        <p:txBody>
          <a:bodyPr wrap="square">
            <a:spAutoFit/>
          </a:bodyPr>
          <a:lstStyle/>
          <a:p>
            <a:r>
              <a:rPr lang="en-US" dirty="0"/>
              <a:t>3. Use the text below as reference for what to type in to that field:</a:t>
            </a:r>
          </a:p>
          <a:p>
            <a:pPr lvl="1" algn="ctr"/>
            <a:r>
              <a:rPr lang="en-US" dirty="0" err="1">
                <a:highlight>
                  <a:srgbClr val="FFFF00"/>
                </a:highlight>
              </a:rPr>
              <a:t>powershell</a:t>
            </a:r>
            <a:r>
              <a:rPr lang="en-US" dirty="0">
                <a:highlight>
                  <a:srgbClr val="FFFF00"/>
                </a:highlight>
              </a:rPr>
              <a:t> -</a:t>
            </a:r>
            <a:r>
              <a:rPr lang="en-US" dirty="0" err="1">
                <a:highlight>
                  <a:srgbClr val="FFFF00"/>
                </a:highlight>
              </a:rPr>
              <a:t>NoExit</a:t>
            </a:r>
            <a:r>
              <a:rPr lang="en-US" dirty="0">
                <a:highlight>
                  <a:srgbClr val="FFFF00"/>
                </a:highlight>
              </a:rPr>
              <a:t> -Command "Set-Location </a:t>
            </a:r>
            <a:r>
              <a:rPr lang="en-US" u="sng" dirty="0">
                <a:highlight>
                  <a:srgbClr val="FFFF00"/>
                </a:highlight>
              </a:rPr>
              <a:t>'M:\scripts\sop\2pptx</a:t>
            </a:r>
            <a:r>
              <a:rPr lang="en-US" dirty="0">
                <a:highlight>
                  <a:srgbClr val="FFFF00"/>
                </a:highlight>
              </a:rPr>
              <a:t>'; python </a:t>
            </a:r>
            <a:r>
              <a:rPr lang="en-US" u="sng" dirty="0">
                <a:highlight>
                  <a:srgbClr val="FFFF00"/>
                </a:highlight>
              </a:rPr>
              <a:t>convert2pptx.py</a:t>
            </a:r>
            <a:r>
              <a:rPr lang="en-US" dirty="0">
                <a:highlight>
                  <a:srgbClr val="FFFF00"/>
                </a:highlight>
              </a:rPr>
              <a:t>"</a:t>
            </a:r>
          </a:p>
          <a:p>
            <a:endParaRPr lang="en-US" i="1" dirty="0"/>
          </a:p>
        </p:txBody>
      </p:sp>
      <p:sp>
        <p:nvSpPr>
          <p:cNvPr id="15" name="TextBox 14">
            <a:extLst>
              <a:ext uri="{FF2B5EF4-FFF2-40B4-BE49-F238E27FC236}">
                <a16:creationId xmlns:a16="http://schemas.microsoft.com/office/drawing/2014/main" id="{727559BE-023A-36EB-93A1-267EC9645BD4}"/>
              </a:ext>
            </a:extLst>
          </p:cNvPr>
          <p:cNvSpPr txBox="1"/>
          <p:nvPr/>
        </p:nvSpPr>
        <p:spPr>
          <a:xfrm>
            <a:off x="159587" y="6207537"/>
            <a:ext cx="7453226" cy="369332"/>
          </a:xfrm>
          <a:prstGeom prst="rect">
            <a:avLst/>
          </a:prstGeom>
          <a:noFill/>
        </p:spPr>
        <p:txBody>
          <a:bodyPr wrap="square">
            <a:spAutoFit/>
          </a:bodyPr>
          <a:lstStyle/>
          <a:p>
            <a:r>
              <a:rPr lang="en-US" dirty="0"/>
              <a:t>4. Once entered, click </a:t>
            </a:r>
            <a:r>
              <a:rPr lang="en-US" i="1" dirty="0"/>
              <a:t>Next </a:t>
            </a:r>
            <a:r>
              <a:rPr lang="en-US" dirty="0"/>
              <a:t>to proceed.</a:t>
            </a:r>
          </a:p>
        </p:txBody>
      </p:sp>
      <p:pic>
        <p:nvPicPr>
          <p:cNvPr id="8" name="Picture 7">
            <a:extLst>
              <a:ext uri="{FF2B5EF4-FFF2-40B4-BE49-F238E27FC236}">
                <a16:creationId xmlns:a16="http://schemas.microsoft.com/office/drawing/2014/main" id="{740F4AF5-4A12-427A-1F24-3060BF30FE77}"/>
              </a:ext>
            </a:extLst>
          </p:cNvPr>
          <p:cNvPicPr>
            <a:picLocks noChangeAspect="1"/>
          </p:cNvPicPr>
          <p:nvPr/>
        </p:nvPicPr>
        <p:blipFill>
          <a:blip r:embed="rId2"/>
          <a:stretch>
            <a:fillRect/>
          </a:stretch>
        </p:blipFill>
        <p:spPr>
          <a:xfrm>
            <a:off x="1075316" y="1875690"/>
            <a:ext cx="5621767" cy="4166293"/>
          </a:xfrm>
          <a:prstGeom prst="rect">
            <a:avLst/>
          </a:prstGeom>
        </p:spPr>
      </p:pic>
    </p:spTree>
    <p:extLst>
      <p:ext uri="{BB962C8B-B14F-4D97-AF65-F5344CB8AC3E}">
        <p14:creationId xmlns:p14="http://schemas.microsoft.com/office/powerpoint/2010/main" val="433291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742F-54E8-93B0-1967-8B72C1CBE3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140A40-6DC6-CC28-265F-EBD5767775BE}"/>
              </a:ext>
            </a:extLst>
          </p:cNvPr>
          <p:cNvSpPr txBox="1"/>
          <p:nvPr/>
        </p:nvSpPr>
        <p:spPr>
          <a:xfrm>
            <a:off x="0" y="253218"/>
            <a:ext cx="7772400" cy="646331"/>
          </a:xfrm>
          <a:prstGeom prst="rect">
            <a:avLst/>
          </a:prstGeom>
          <a:noFill/>
        </p:spPr>
        <p:txBody>
          <a:bodyPr wrap="square" rtlCol="0">
            <a:spAutoFit/>
          </a:bodyPr>
          <a:lstStyle/>
          <a:p>
            <a:pPr algn="ctr"/>
            <a:r>
              <a:rPr lang="en-US" sz="3600" b="1" dirty="0"/>
              <a:t>Set Up Desktop Shortcut</a:t>
            </a:r>
          </a:p>
        </p:txBody>
      </p:sp>
      <p:sp>
        <p:nvSpPr>
          <p:cNvPr id="3" name="Slide Number Placeholder 2">
            <a:extLst>
              <a:ext uri="{FF2B5EF4-FFF2-40B4-BE49-F238E27FC236}">
                <a16:creationId xmlns:a16="http://schemas.microsoft.com/office/drawing/2014/main" id="{D8CA5A0A-B066-EDB6-CA35-979E244AC21E}"/>
              </a:ext>
            </a:extLst>
          </p:cNvPr>
          <p:cNvSpPr>
            <a:spLocks noGrp="1"/>
          </p:cNvSpPr>
          <p:nvPr>
            <p:ph type="sldNum" sz="quarter" idx="12"/>
          </p:nvPr>
        </p:nvSpPr>
        <p:spPr/>
        <p:txBody>
          <a:bodyPr/>
          <a:lstStyle/>
          <a:p>
            <a:fld id="{3DE2C916-6F1E-4075-B034-0F55610526B3}" type="slidenum">
              <a:rPr lang="en-US" smtClean="0"/>
              <a:t>19</a:t>
            </a:fld>
            <a:endParaRPr lang="en-US"/>
          </a:p>
        </p:txBody>
      </p:sp>
      <p:sp>
        <p:nvSpPr>
          <p:cNvPr id="10" name="TextBox 9">
            <a:extLst>
              <a:ext uri="{FF2B5EF4-FFF2-40B4-BE49-F238E27FC236}">
                <a16:creationId xmlns:a16="http://schemas.microsoft.com/office/drawing/2014/main" id="{80BA80A6-83F8-B76E-875B-5127C0B21647}"/>
              </a:ext>
            </a:extLst>
          </p:cNvPr>
          <p:cNvSpPr txBox="1"/>
          <p:nvPr/>
        </p:nvSpPr>
        <p:spPr>
          <a:xfrm>
            <a:off x="159587" y="899549"/>
            <a:ext cx="7453226" cy="646331"/>
          </a:xfrm>
          <a:prstGeom prst="rect">
            <a:avLst/>
          </a:prstGeom>
          <a:noFill/>
        </p:spPr>
        <p:txBody>
          <a:bodyPr wrap="square">
            <a:spAutoFit/>
          </a:bodyPr>
          <a:lstStyle/>
          <a:p>
            <a:r>
              <a:rPr lang="en-US" dirty="0"/>
              <a:t>5. You will be prompted to make a name for this shortcut, it is recommended to make it recognizable.</a:t>
            </a:r>
            <a:endParaRPr lang="en-US" i="1" dirty="0"/>
          </a:p>
        </p:txBody>
      </p:sp>
      <p:sp>
        <p:nvSpPr>
          <p:cNvPr id="15" name="TextBox 14">
            <a:extLst>
              <a:ext uri="{FF2B5EF4-FFF2-40B4-BE49-F238E27FC236}">
                <a16:creationId xmlns:a16="http://schemas.microsoft.com/office/drawing/2014/main" id="{7574EF37-AF92-6869-1C7D-FFB0CD76BB86}"/>
              </a:ext>
            </a:extLst>
          </p:cNvPr>
          <p:cNvSpPr txBox="1"/>
          <p:nvPr/>
        </p:nvSpPr>
        <p:spPr>
          <a:xfrm>
            <a:off x="159587" y="6207537"/>
            <a:ext cx="7453226" cy="369332"/>
          </a:xfrm>
          <a:prstGeom prst="rect">
            <a:avLst/>
          </a:prstGeom>
          <a:noFill/>
        </p:spPr>
        <p:txBody>
          <a:bodyPr wrap="square">
            <a:spAutoFit/>
          </a:bodyPr>
          <a:lstStyle/>
          <a:p>
            <a:r>
              <a:rPr lang="en-US" dirty="0"/>
              <a:t>4. Once entered, click </a:t>
            </a:r>
            <a:r>
              <a:rPr lang="en-US" i="1" dirty="0"/>
              <a:t>Finish </a:t>
            </a:r>
            <a:r>
              <a:rPr lang="en-US" dirty="0"/>
              <a:t>to complete.</a:t>
            </a:r>
          </a:p>
        </p:txBody>
      </p:sp>
      <p:pic>
        <p:nvPicPr>
          <p:cNvPr id="5" name="Picture 4">
            <a:extLst>
              <a:ext uri="{FF2B5EF4-FFF2-40B4-BE49-F238E27FC236}">
                <a16:creationId xmlns:a16="http://schemas.microsoft.com/office/drawing/2014/main" id="{62B59978-B22B-5DA1-4F13-A8ABE35694C1}"/>
              </a:ext>
            </a:extLst>
          </p:cNvPr>
          <p:cNvPicPr>
            <a:picLocks noChangeAspect="1"/>
          </p:cNvPicPr>
          <p:nvPr/>
        </p:nvPicPr>
        <p:blipFill>
          <a:blip r:embed="rId2"/>
          <a:stretch>
            <a:fillRect/>
          </a:stretch>
        </p:blipFill>
        <p:spPr>
          <a:xfrm>
            <a:off x="947327" y="1671363"/>
            <a:ext cx="5877745" cy="4410691"/>
          </a:xfrm>
          <a:prstGeom prst="rect">
            <a:avLst/>
          </a:prstGeom>
        </p:spPr>
      </p:pic>
    </p:spTree>
    <p:extLst>
      <p:ext uri="{BB962C8B-B14F-4D97-AF65-F5344CB8AC3E}">
        <p14:creationId xmlns:p14="http://schemas.microsoft.com/office/powerpoint/2010/main" val="3166836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8CCB-E43B-A5CD-F9C4-A3AC2EA7F0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6094FB-7477-A7D8-89E5-0D0D864989BA}"/>
              </a:ext>
            </a:extLst>
          </p:cNvPr>
          <p:cNvSpPr txBox="1"/>
          <p:nvPr/>
        </p:nvSpPr>
        <p:spPr>
          <a:xfrm>
            <a:off x="0" y="253218"/>
            <a:ext cx="7772400" cy="646331"/>
          </a:xfrm>
          <a:prstGeom prst="rect">
            <a:avLst/>
          </a:prstGeom>
          <a:noFill/>
        </p:spPr>
        <p:txBody>
          <a:bodyPr wrap="square" rtlCol="0">
            <a:spAutoFit/>
          </a:bodyPr>
          <a:lstStyle/>
          <a:p>
            <a:pPr algn="ctr"/>
            <a:r>
              <a:rPr lang="en-US" sz="3600" dirty="0"/>
              <a:t>Troubleshooting</a:t>
            </a:r>
          </a:p>
        </p:txBody>
      </p:sp>
      <p:sp>
        <p:nvSpPr>
          <p:cNvPr id="3" name="Slide Number Placeholder 2">
            <a:extLst>
              <a:ext uri="{FF2B5EF4-FFF2-40B4-BE49-F238E27FC236}">
                <a16:creationId xmlns:a16="http://schemas.microsoft.com/office/drawing/2014/main" id="{F703EF02-A3BC-1074-54FA-1FA0F2E7A4BF}"/>
              </a:ext>
            </a:extLst>
          </p:cNvPr>
          <p:cNvSpPr>
            <a:spLocks noGrp="1"/>
          </p:cNvSpPr>
          <p:nvPr>
            <p:ph type="sldNum" sz="quarter" idx="12"/>
          </p:nvPr>
        </p:nvSpPr>
        <p:spPr/>
        <p:txBody>
          <a:bodyPr/>
          <a:lstStyle/>
          <a:p>
            <a:fld id="{3DE2C916-6F1E-4075-B034-0F55610526B3}" type="slidenum">
              <a:rPr lang="en-US" smtClean="0"/>
              <a:t>20</a:t>
            </a:fld>
            <a:endParaRPr lang="en-US"/>
          </a:p>
        </p:txBody>
      </p:sp>
      <p:sp>
        <p:nvSpPr>
          <p:cNvPr id="12" name="TextBox 11">
            <a:extLst>
              <a:ext uri="{FF2B5EF4-FFF2-40B4-BE49-F238E27FC236}">
                <a16:creationId xmlns:a16="http://schemas.microsoft.com/office/drawing/2014/main" id="{9B33C20F-56B5-A870-19A1-5634257B2C45}"/>
              </a:ext>
            </a:extLst>
          </p:cNvPr>
          <p:cNvSpPr txBox="1"/>
          <p:nvPr/>
        </p:nvSpPr>
        <p:spPr>
          <a:xfrm>
            <a:off x="371719" y="899549"/>
            <a:ext cx="7028962" cy="1754326"/>
          </a:xfrm>
          <a:prstGeom prst="rect">
            <a:avLst/>
          </a:prstGeom>
          <a:noFill/>
        </p:spPr>
        <p:txBody>
          <a:bodyPr wrap="square" rtlCol="0">
            <a:spAutoFit/>
          </a:bodyPr>
          <a:lstStyle/>
          <a:p>
            <a:r>
              <a:rPr lang="en-US" b="1" u="sng" dirty="0"/>
              <a:t>How to Quit/Stop Running the Script</a:t>
            </a:r>
          </a:p>
          <a:p>
            <a:pPr marL="285750" indent="-285750">
              <a:buFontTx/>
              <a:buChar char="-"/>
            </a:pPr>
            <a:r>
              <a:rPr lang="en-US" dirty="0"/>
              <a:t>In any variation of this script/tool use CTRL+C after clicking on/focusing the terminal window to abort the script.</a:t>
            </a:r>
          </a:p>
          <a:p>
            <a:pPr marL="285750" indent="-285750">
              <a:buFontTx/>
              <a:buChar char="-"/>
            </a:pPr>
            <a:r>
              <a:rPr lang="en-US" dirty="0"/>
              <a:t>A secondary close if that doesn’t work, is to completely close the terminal window using the typical window control features in the top-right of any window.</a:t>
            </a:r>
          </a:p>
        </p:txBody>
      </p:sp>
      <p:sp>
        <p:nvSpPr>
          <p:cNvPr id="6" name="TextBox 5">
            <a:extLst>
              <a:ext uri="{FF2B5EF4-FFF2-40B4-BE49-F238E27FC236}">
                <a16:creationId xmlns:a16="http://schemas.microsoft.com/office/drawing/2014/main" id="{859FB647-FEAE-65AA-3E5C-A700602BEA9A}"/>
              </a:ext>
            </a:extLst>
          </p:cNvPr>
          <p:cNvSpPr txBox="1"/>
          <p:nvPr/>
        </p:nvSpPr>
        <p:spPr>
          <a:xfrm>
            <a:off x="324338" y="6940356"/>
            <a:ext cx="7028962" cy="1200329"/>
          </a:xfrm>
          <a:prstGeom prst="rect">
            <a:avLst/>
          </a:prstGeom>
          <a:noFill/>
        </p:spPr>
        <p:txBody>
          <a:bodyPr wrap="square" rtlCol="0">
            <a:spAutoFit/>
          </a:bodyPr>
          <a:lstStyle/>
          <a:p>
            <a:r>
              <a:rPr lang="en-US" b="1" u="sng" dirty="0">
                <a:solidFill>
                  <a:srgbClr val="FF0000"/>
                </a:solidFill>
              </a:rPr>
              <a:t>Contact Dante for Support</a:t>
            </a:r>
          </a:p>
          <a:p>
            <a:r>
              <a:rPr lang="en-US" dirty="0"/>
              <a:t>	If this document was completely useless in setup and troubleshooting, send me a message or give me a call and I’ll do my best to get everything sorted out with you.</a:t>
            </a:r>
          </a:p>
        </p:txBody>
      </p:sp>
      <p:sp>
        <p:nvSpPr>
          <p:cNvPr id="4" name="TextBox 3">
            <a:extLst>
              <a:ext uri="{FF2B5EF4-FFF2-40B4-BE49-F238E27FC236}">
                <a16:creationId xmlns:a16="http://schemas.microsoft.com/office/drawing/2014/main" id="{C9F5FBB9-CC8A-0B9B-C9C3-542E0072BC5B}"/>
              </a:ext>
            </a:extLst>
          </p:cNvPr>
          <p:cNvSpPr txBox="1"/>
          <p:nvPr/>
        </p:nvSpPr>
        <p:spPr>
          <a:xfrm>
            <a:off x="324338" y="2933054"/>
            <a:ext cx="7028962" cy="3416320"/>
          </a:xfrm>
          <a:prstGeom prst="rect">
            <a:avLst/>
          </a:prstGeom>
          <a:noFill/>
        </p:spPr>
        <p:txBody>
          <a:bodyPr wrap="square" rtlCol="0">
            <a:spAutoFit/>
          </a:bodyPr>
          <a:lstStyle/>
          <a:p>
            <a:r>
              <a:rPr lang="en-US" b="1" u="sng" dirty="0"/>
              <a:t>Assets are Messed Up</a:t>
            </a:r>
          </a:p>
          <a:p>
            <a:pPr marL="285750" indent="-285750">
              <a:buFontTx/>
              <a:buChar char="-"/>
            </a:pPr>
            <a:r>
              <a:rPr lang="en-US" dirty="0"/>
              <a:t>It is likely that some things slipped through the cracks and I could not get a complete 1:1 conversion of all Publisher assets to go to PowerPoint.</a:t>
            </a:r>
          </a:p>
          <a:p>
            <a:pPr marL="742950" lvl="1" indent="-285750">
              <a:buFontTx/>
              <a:buChar char="-"/>
            </a:pPr>
            <a:r>
              <a:rPr lang="en-US" dirty="0"/>
              <a:t>For the more obvious “failures”, I’ll do my best to update the script/tool in a timely fashion.</a:t>
            </a:r>
          </a:p>
          <a:p>
            <a:pPr marL="742950" lvl="1" indent="-285750">
              <a:buFontTx/>
              <a:buChar char="-"/>
            </a:pPr>
            <a:r>
              <a:rPr lang="en-US" dirty="0"/>
              <a:t>A changelog at the end of this document will be updated with any changes made in the future. </a:t>
            </a:r>
          </a:p>
          <a:p>
            <a:pPr marL="742950" lvl="1" indent="-285750">
              <a:buFontTx/>
              <a:buChar char="-"/>
            </a:pPr>
            <a:r>
              <a:rPr lang="en-US" dirty="0"/>
              <a:t>The downloadable zip file will be updated in tandem.</a:t>
            </a:r>
          </a:p>
          <a:p>
            <a:pPr marL="742950" lvl="1" indent="-285750">
              <a:buFontTx/>
              <a:buChar char="-"/>
            </a:pPr>
            <a:endParaRPr lang="en-US" dirty="0"/>
          </a:p>
          <a:p>
            <a:pPr marL="742950" lvl="1" indent="-285750">
              <a:buFontTx/>
              <a:buChar char="-"/>
            </a:pPr>
            <a:endParaRPr lang="en-US" dirty="0"/>
          </a:p>
          <a:p>
            <a:pPr lvl="1" algn="ctr"/>
            <a:r>
              <a:rPr lang="en-US" b="1" u="sng" dirty="0"/>
              <a:t>80% is still passable</a:t>
            </a:r>
          </a:p>
        </p:txBody>
      </p:sp>
    </p:spTree>
    <p:extLst>
      <p:ext uri="{BB962C8B-B14F-4D97-AF65-F5344CB8AC3E}">
        <p14:creationId xmlns:p14="http://schemas.microsoft.com/office/powerpoint/2010/main" val="2252105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9F1F2-950C-267E-D939-298E1AECAC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0A96EC-136D-F9CD-2EC4-7806320D9F6A}"/>
              </a:ext>
            </a:extLst>
          </p:cNvPr>
          <p:cNvSpPr txBox="1"/>
          <p:nvPr/>
        </p:nvSpPr>
        <p:spPr>
          <a:xfrm>
            <a:off x="0" y="253218"/>
            <a:ext cx="7772400" cy="646331"/>
          </a:xfrm>
          <a:prstGeom prst="rect">
            <a:avLst/>
          </a:prstGeom>
          <a:noFill/>
        </p:spPr>
        <p:txBody>
          <a:bodyPr wrap="square" rtlCol="0">
            <a:spAutoFit/>
          </a:bodyPr>
          <a:lstStyle/>
          <a:p>
            <a:pPr algn="ctr"/>
            <a:r>
              <a:rPr lang="en-US" sz="3600" dirty="0"/>
              <a:t>Troubleshooting</a:t>
            </a:r>
          </a:p>
        </p:txBody>
      </p:sp>
      <p:sp>
        <p:nvSpPr>
          <p:cNvPr id="3" name="Slide Number Placeholder 2">
            <a:extLst>
              <a:ext uri="{FF2B5EF4-FFF2-40B4-BE49-F238E27FC236}">
                <a16:creationId xmlns:a16="http://schemas.microsoft.com/office/drawing/2014/main" id="{F094DEE9-2CF1-1738-2EC3-FDE5FDFD1FF8}"/>
              </a:ext>
            </a:extLst>
          </p:cNvPr>
          <p:cNvSpPr>
            <a:spLocks noGrp="1"/>
          </p:cNvSpPr>
          <p:nvPr>
            <p:ph type="sldNum" sz="quarter" idx="12"/>
          </p:nvPr>
        </p:nvSpPr>
        <p:spPr/>
        <p:txBody>
          <a:bodyPr/>
          <a:lstStyle/>
          <a:p>
            <a:fld id="{3DE2C916-6F1E-4075-B034-0F55610526B3}" type="slidenum">
              <a:rPr lang="en-US" smtClean="0"/>
              <a:t>21</a:t>
            </a:fld>
            <a:endParaRPr lang="en-US"/>
          </a:p>
        </p:txBody>
      </p:sp>
      <p:sp>
        <p:nvSpPr>
          <p:cNvPr id="4" name="TextBox 3">
            <a:extLst>
              <a:ext uri="{FF2B5EF4-FFF2-40B4-BE49-F238E27FC236}">
                <a16:creationId xmlns:a16="http://schemas.microsoft.com/office/drawing/2014/main" id="{24AEB9D6-3A93-1E58-BB45-FE238956D52B}"/>
              </a:ext>
            </a:extLst>
          </p:cNvPr>
          <p:cNvSpPr txBox="1"/>
          <p:nvPr/>
        </p:nvSpPr>
        <p:spPr>
          <a:xfrm>
            <a:off x="324338" y="1019683"/>
            <a:ext cx="7028962" cy="3139321"/>
          </a:xfrm>
          <a:prstGeom prst="rect">
            <a:avLst/>
          </a:prstGeom>
          <a:noFill/>
        </p:spPr>
        <p:txBody>
          <a:bodyPr wrap="square" rtlCol="0">
            <a:spAutoFit/>
          </a:bodyPr>
          <a:lstStyle/>
          <a:p>
            <a:r>
              <a:rPr lang="en-US" b="1" u="sng" dirty="0">
                <a:solidFill>
                  <a:srgbClr val="FF0000"/>
                </a:solidFill>
              </a:rPr>
              <a:t>[FAILS] </a:t>
            </a:r>
            <a:r>
              <a:rPr lang="en-US" b="1" u="sng" dirty="0"/>
              <a:t>on </a:t>
            </a:r>
            <a:r>
              <a:rPr lang="en-US" b="1" i="1" u="sng" dirty="0"/>
              <a:t>install.bat</a:t>
            </a:r>
            <a:endParaRPr lang="en-US" b="1" u="sng" dirty="0"/>
          </a:p>
          <a:p>
            <a:pPr marL="285750" indent="-285750">
              <a:buFontTx/>
              <a:buChar char="-"/>
            </a:pPr>
            <a:r>
              <a:rPr lang="en-US" u="sng" dirty="0"/>
              <a:t>If for </a:t>
            </a:r>
            <a:r>
              <a:rPr lang="en-US" i="1" u="sng" dirty="0"/>
              <a:t>Python</a:t>
            </a:r>
            <a:r>
              <a:rPr lang="en-US" dirty="0"/>
              <a:t>, you should have been directed to the Microsoft store to download Python 3.13.</a:t>
            </a:r>
          </a:p>
          <a:p>
            <a:pPr marL="742950" lvl="1" indent="-285750">
              <a:buFontTx/>
              <a:buChar char="-"/>
            </a:pPr>
            <a:r>
              <a:rPr lang="en-US" dirty="0"/>
              <a:t>Once installed, re-run</a:t>
            </a:r>
            <a:r>
              <a:rPr lang="en-US" i="1" dirty="0"/>
              <a:t> install.bat</a:t>
            </a:r>
          </a:p>
          <a:p>
            <a:pPr marL="285750" indent="-285750">
              <a:buFontTx/>
              <a:buChar char="-"/>
            </a:pPr>
            <a:r>
              <a:rPr lang="en-US" dirty="0"/>
              <a:t>If for </a:t>
            </a:r>
            <a:r>
              <a:rPr lang="en-US" i="1" dirty="0"/>
              <a:t>pip or pywin32</a:t>
            </a:r>
            <a:r>
              <a:rPr lang="en-US" dirty="0"/>
              <a:t>, you may have received additional directions in the terminal to “download updated version”.</a:t>
            </a:r>
          </a:p>
          <a:p>
            <a:pPr marL="742950" lvl="1" indent="-285750">
              <a:buFontTx/>
              <a:buChar char="-"/>
            </a:pPr>
            <a:r>
              <a:rPr lang="en-US" dirty="0"/>
              <a:t>Follow terminal prompts to complete this; basically, all you’d need to do is take your mouse and highlight the “update command” and paste that into a new tab on the terminal.</a:t>
            </a:r>
          </a:p>
          <a:p>
            <a:pPr marL="285750" indent="-285750">
              <a:buFontTx/>
              <a:buChar char="-"/>
            </a:pPr>
            <a:endParaRPr lang="en-US" dirty="0"/>
          </a:p>
          <a:p>
            <a:endParaRPr lang="en-US" dirty="0"/>
          </a:p>
        </p:txBody>
      </p:sp>
      <p:sp>
        <p:nvSpPr>
          <p:cNvPr id="6" name="TextBox 5">
            <a:extLst>
              <a:ext uri="{FF2B5EF4-FFF2-40B4-BE49-F238E27FC236}">
                <a16:creationId xmlns:a16="http://schemas.microsoft.com/office/drawing/2014/main" id="{4DF45866-6655-1BA8-800F-536D762C6622}"/>
              </a:ext>
            </a:extLst>
          </p:cNvPr>
          <p:cNvSpPr txBox="1"/>
          <p:nvPr/>
        </p:nvSpPr>
        <p:spPr>
          <a:xfrm>
            <a:off x="128967" y="4159004"/>
            <a:ext cx="7319095" cy="5078313"/>
          </a:xfrm>
          <a:prstGeom prst="rect">
            <a:avLst/>
          </a:prstGeom>
          <a:noFill/>
        </p:spPr>
        <p:txBody>
          <a:bodyPr wrap="square">
            <a:spAutoFit/>
          </a:bodyPr>
          <a:lstStyle/>
          <a:p>
            <a:r>
              <a:rPr lang="en-US" b="1" u="sng" dirty="0">
                <a:solidFill>
                  <a:srgbClr val="FF0000"/>
                </a:solidFill>
              </a:rPr>
              <a:t>[FAILS] </a:t>
            </a:r>
            <a:r>
              <a:rPr lang="en-US" b="1" u="sng" dirty="0"/>
              <a:t>on </a:t>
            </a:r>
            <a:r>
              <a:rPr lang="en-US" b="1" i="1" u="sng" dirty="0"/>
              <a:t>run_test.bat</a:t>
            </a:r>
            <a:endParaRPr lang="en-US" b="1" u="sng" dirty="0"/>
          </a:p>
          <a:p>
            <a:pPr marL="285750" indent="-285750">
              <a:buFontTx/>
              <a:buChar char="-"/>
            </a:pPr>
            <a:r>
              <a:rPr lang="en-US" u="sng" dirty="0"/>
              <a:t>If for </a:t>
            </a:r>
            <a:r>
              <a:rPr lang="en-US" i="1" u="sng" dirty="0"/>
              <a:t>test_convert2pptx.py</a:t>
            </a:r>
            <a:r>
              <a:rPr lang="en-US" dirty="0"/>
              <a:t>, this is due to the program not finding the file for a couple of reasons</a:t>
            </a:r>
          </a:p>
          <a:p>
            <a:pPr marL="742950" lvl="1" indent="-285750">
              <a:buFontTx/>
              <a:buChar char="-"/>
            </a:pPr>
            <a:r>
              <a:rPr lang="en-US" b="1" dirty="0"/>
              <a:t>Wrong File Name</a:t>
            </a:r>
            <a:r>
              <a:rPr lang="en-US" dirty="0"/>
              <a:t>: If the file happened to be renamed, change the name back to “test_convert2pptx.py” to ensure this demo runs properly.</a:t>
            </a:r>
          </a:p>
          <a:p>
            <a:pPr marL="742950" lvl="1" indent="-285750">
              <a:buFontTx/>
              <a:buChar char="-"/>
            </a:pPr>
            <a:r>
              <a:rPr lang="en-US" b="1" dirty="0"/>
              <a:t>File Not in Same Folder</a:t>
            </a:r>
            <a:r>
              <a:rPr lang="en-US" dirty="0"/>
              <a:t>: If the file “test_convert2pptx.py” is moved, this error can be thrown. Make sure that the file is in the same folder, “next to”, the </a:t>
            </a:r>
            <a:r>
              <a:rPr lang="en-US" i="1" dirty="0"/>
              <a:t>run_test.bat</a:t>
            </a:r>
          </a:p>
          <a:p>
            <a:pPr marL="285750" indent="-285750">
              <a:buFontTx/>
              <a:buChar char="-"/>
            </a:pPr>
            <a:r>
              <a:rPr lang="en-US" u="sng" dirty="0"/>
              <a:t>If for </a:t>
            </a:r>
            <a:r>
              <a:rPr lang="en-US" i="1" u="sng" dirty="0"/>
              <a:t>Pub-Pow Blank Template.potx</a:t>
            </a:r>
            <a:r>
              <a:rPr lang="en-US" dirty="0"/>
              <a:t>, this is due to the program not finding the file for a couple of reasons</a:t>
            </a:r>
          </a:p>
          <a:p>
            <a:pPr marL="742950" lvl="1" indent="-285750">
              <a:buFontTx/>
              <a:buChar char="-"/>
            </a:pPr>
            <a:r>
              <a:rPr lang="en-US" b="1" dirty="0"/>
              <a:t>Wrong File Name</a:t>
            </a:r>
            <a:r>
              <a:rPr lang="en-US" dirty="0"/>
              <a:t>: If the file happened to be renamed, change the name back to “Pub-Pow Blank Template.potx” to ensure this demo runs properly.</a:t>
            </a:r>
          </a:p>
          <a:p>
            <a:pPr marL="742950" lvl="1" indent="-285750">
              <a:buFontTx/>
              <a:buChar char="-"/>
            </a:pPr>
            <a:r>
              <a:rPr lang="en-US" b="1" dirty="0"/>
              <a:t>File Not in Same Folder</a:t>
            </a:r>
            <a:r>
              <a:rPr lang="en-US" dirty="0"/>
              <a:t>: If the file “Pub-Pow Blank Template.potx” is moved, this error can be thrown. Make sure that the file is in the same folder, “next to”, the </a:t>
            </a:r>
            <a:r>
              <a:rPr lang="en-US" i="1" dirty="0"/>
              <a:t>run_test.bat</a:t>
            </a:r>
          </a:p>
          <a:p>
            <a:pPr marL="285750" indent="-285750">
              <a:buFontTx/>
              <a:buChar char="-"/>
            </a:pPr>
            <a:endParaRPr lang="en-US" i="1" u="sng" dirty="0"/>
          </a:p>
        </p:txBody>
      </p:sp>
      <p:sp>
        <p:nvSpPr>
          <p:cNvPr id="7" name="TextBox 6">
            <a:extLst>
              <a:ext uri="{FF2B5EF4-FFF2-40B4-BE49-F238E27FC236}">
                <a16:creationId xmlns:a16="http://schemas.microsoft.com/office/drawing/2014/main" id="{0F1595F2-79B2-AFFF-AA37-9EA7C447A928}"/>
              </a:ext>
            </a:extLst>
          </p:cNvPr>
          <p:cNvSpPr txBox="1"/>
          <p:nvPr/>
        </p:nvSpPr>
        <p:spPr>
          <a:xfrm>
            <a:off x="2448891" y="9052651"/>
            <a:ext cx="2874618" cy="369332"/>
          </a:xfrm>
          <a:prstGeom prst="rect">
            <a:avLst/>
          </a:prstGeom>
          <a:noFill/>
        </p:spPr>
        <p:txBody>
          <a:bodyPr wrap="square">
            <a:spAutoFit/>
          </a:bodyPr>
          <a:lstStyle/>
          <a:p>
            <a:r>
              <a:rPr lang="en-US" b="1" dirty="0"/>
              <a:t>Continue to next page </a:t>
            </a:r>
            <a:r>
              <a:rPr lang="en-US" b="1" dirty="0">
                <a:sym typeface="Wingdings" panose="05000000000000000000" pitchFamily="2" charset="2"/>
              </a:rPr>
              <a:t></a:t>
            </a:r>
            <a:endParaRPr lang="en-US" b="1" dirty="0"/>
          </a:p>
        </p:txBody>
      </p:sp>
    </p:spTree>
    <p:extLst>
      <p:ext uri="{BB962C8B-B14F-4D97-AF65-F5344CB8AC3E}">
        <p14:creationId xmlns:p14="http://schemas.microsoft.com/office/powerpoint/2010/main" val="2006772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ED7E-BF3F-50B7-C07D-4EABEB1E48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7F33E4-F318-8A2D-A293-99E7A398054A}"/>
              </a:ext>
            </a:extLst>
          </p:cNvPr>
          <p:cNvSpPr txBox="1"/>
          <p:nvPr/>
        </p:nvSpPr>
        <p:spPr>
          <a:xfrm>
            <a:off x="0" y="253218"/>
            <a:ext cx="7772400" cy="646331"/>
          </a:xfrm>
          <a:prstGeom prst="rect">
            <a:avLst/>
          </a:prstGeom>
          <a:noFill/>
        </p:spPr>
        <p:txBody>
          <a:bodyPr wrap="square" rtlCol="0">
            <a:spAutoFit/>
          </a:bodyPr>
          <a:lstStyle/>
          <a:p>
            <a:pPr algn="ctr"/>
            <a:r>
              <a:rPr lang="en-US" sz="3600" dirty="0"/>
              <a:t>Troubleshooting</a:t>
            </a:r>
          </a:p>
        </p:txBody>
      </p:sp>
      <p:sp>
        <p:nvSpPr>
          <p:cNvPr id="3" name="Slide Number Placeholder 2">
            <a:extLst>
              <a:ext uri="{FF2B5EF4-FFF2-40B4-BE49-F238E27FC236}">
                <a16:creationId xmlns:a16="http://schemas.microsoft.com/office/drawing/2014/main" id="{FFED5E2C-8926-DA0C-EC25-9618E328F8E7}"/>
              </a:ext>
            </a:extLst>
          </p:cNvPr>
          <p:cNvSpPr>
            <a:spLocks noGrp="1"/>
          </p:cNvSpPr>
          <p:nvPr>
            <p:ph type="sldNum" sz="quarter" idx="12"/>
          </p:nvPr>
        </p:nvSpPr>
        <p:spPr/>
        <p:txBody>
          <a:bodyPr/>
          <a:lstStyle/>
          <a:p>
            <a:fld id="{3DE2C916-6F1E-4075-B034-0F55610526B3}" type="slidenum">
              <a:rPr lang="en-US" smtClean="0"/>
              <a:t>22</a:t>
            </a:fld>
            <a:endParaRPr lang="en-US"/>
          </a:p>
        </p:txBody>
      </p:sp>
      <p:sp>
        <p:nvSpPr>
          <p:cNvPr id="4" name="TextBox 3">
            <a:extLst>
              <a:ext uri="{FF2B5EF4-FFF2-40B4-BE49-F238E27FC236}">
                <a16:creationId xmlns:a16="http://schemas.microsoft.com/office/drawing/2014/main" id="{9F54E1BB-1538-8BC9-1665-8843DD4311DA}"/>
              </a:ext>
            </a:extLst>
          </p:cNvPr>
          <p:cNvSpPr txBox="1"/>
          <p:nvPr/>
        </p:nvSpPr>
        <p:spPr>
          <a:xfrm>
            <a:off x="324338" y="1019683"/>
            <a:ext cx="7028962" cy="4247317"/>
          </a:xfrm>
          <a:prstGeom prst="rect">
            <a:avLst/>
          </a:prstGeom>
          <a:noFill/>
        </p:spPr>
        <p:txBody>
          <a:bodyPr wrap="square" rtlCol="0">
            <a:spAutoFit/>
          </a:bodyPr>
          <a:lstStyle/>
          <a:p>
            <a:r>
              <a:rPr lang="en-US" b="1" u="sng" dirty="0">
                <a:solidFill>
                  <a:srgbClr val="FF0000"/>
                </a:solidFill>
              </a:rPr>
              <a:t>[FAILS] </a:t>
            </a:r>
            <a:r>
              <a:rPr lang="en-US" b="1" u="sng" dirty="0"/>
              <a:t>on </a:t>
            </a:r>
            <a:r>
              <a:rPr lang="en-US" b="1" i="1" u="sng" dirty="0"/>
              <a:t>run_test.bat</a:t>
            </a:r>
            <a:endParaRPr lang="en-US" b="1" u="sng" dirty="0"/>
          </a:p>
          <a:p>
            <a:pPr marL="285750" indent="-285750">
              <a:buFontTx/>
              <a:buChar char="-"/>
            </a:pPr>
            <a:r>
              <a:rPr lang="en-US" u="sng" dirty="0"/>
              <a:t>If for </a:t>
            </a:r>
            <a:r>
              <a:rPr lang="en-US" i="1" u="sng" dirty="0"/>
              <a:t>test_batch.csv</a:t>
            </a:r>
            <a:r>
              <a:rPr lang="en-US" dirty="0"/>
              <a:t>, this is due to the program not finding the file for a couple of reasons.</a:t>
            </a:r>
          </a:p>
          <a:p>
            <a:pPr marL="742950" lvl="1" indent="-285750">
              <a:buFontTx/>
              <a:buChar char="-"/>
            </a:pPr>
            <a:r>
              <a:rPr lang="en-US" b="1" dirty="0"/>
              <a:t>File Not Created: </a:t>
            </a:r>
            <a:r>
              <a:rPr lang="en-US" dirty="0"/>
              <a:t>This .CSV should have been made after the execution of </a:t>
            </a:r>
            <a:r>
              <a:rPr lang="en-US" i="1" dirty="0"/>
              <a:t>install.bat. </a:t>
            </a:r>
            <a:r>
              <a:rPr lang="en-US" dirty="0"/>
              <a:t>In the off chance this file doesn’t exist, simply search for </a:t>
            </a:r>
            <a:r>
              <a:rPr lang="en-US" i="1" dirty="0"/>
              <a:t>grabber.py </a:t>
            </a:r>
            <a:r>
              <a:rPr lang="en-US" dirty="0"/>
              <a:t>in the </a:t>
            </a:r>
            <a:r>
              <a:rPr lang="en-US" i="1" dirty="0"/>
              <a:t>Conv2PPTX </a:t>
            </a:r>
            <a:r>
              <a:rPr lang="en-US" dirty="0"/>
              <a:t>folder and run that script. </a:t>
            </a:r>
            <a:endParaRPr lang="en-US" i="1" dirty="0"/>
          </a:p>
          <a:p>
            <a:pPr marL="742950" lvl="1" indent="-285750">
              <a:buFontTx/>
              <a:buChar char="-"/>
            </a:pPr>
            <a:r>
              <a:rPr lang="en-US" b="1" dirty="0"/>
              <a:t>Wrong File Name</a:t>
            </a:r>
            <a:r>
              <a:rPr lang="en-US" dirty="0"/>
              <a:t>: If the file happened to be renamed, change the name back to “test_batch.csv” to ensure this demo runs properly.</a:t>
            </a:r>
          </a:p>
          <a:p>
            <a:pPr marL="742950" lvl="1" indent="-285750">
              <a:buFontTx/>
              <a:buChar char="-"/>
            </a:pPr>
            <a:r>
              <a:rPr lang="en-US" b="1" dirty="0"/>
              <a:t>File Not in Same Folder</a:t>
            </a:r>
            <a:r>
              <a:rPr lang="en-US" dirty="0"/>
              <a:t>: If the file “test_batch.csv” is moved, this error can be thrown. Make sure that the file is in the same folder, “next to”, the </a:t>
            </a:r>
            <a:r>
              <a:rPr lang="en-US" i="1" dirty="0"/>
              <a:t>run_test.bat</a:t>
            </a:r>
          </a:p>
          <a:p>
            <a:pPr marL="285750" indent="-285750">
              <a:buFontTx/>
              <a:buChar char="-"/>
            </a:pPr>
            <a:endParaRPr lang="en-US" dirty="0"/>
          </a:p>
          <a:p>
            <a:endParaRPr lang="en-US" dirty="0"/>
          </a:p>
        </p:txBody>
      </p:sp>
      <p:sp>
        <p:nvSpPr>
          <p:cNvPr id="12" name="TextBox 11">
            <a:extLst>
              <a:ext uri="{FF2B5EF4-FFF2-40B4-BE49-F238E27FC236}">
                <a16:creationId xmlns:a16="http://schemas.microsoft.com/office/drawing/2014/main" id="{B35F6F94-CA2B-4AD6-32AE-8BF206B017EE}"/>
              </a:ext>
            </a:extLst>
          </p:cNvPr>
          <p:cNvSpPr txBox="1"/>
          <p:nvPr/>
        </p:nvSpPr>
        <p:spPr>
          <a:xfrm>
            <a:off x="324338" y="4955198"/>
            <a:ext cx="7028962" cy="3139321"/>
          </a:xfrm>
          <a:prstGeom prst="rect">
            <a:avLst/>
          </a:prstGeom>
          <a:noFill/>
        </p:spPr>
        <p:txBody>
          <a:bodyPr wrap="square" rtlCol="0">
            <a:spAutoFit/>
          </a:bodyPr>
          <a:lstStyle/>
          <a:p>
            <a:r>
              <a:rPr lang="en-US" b="1" u="sng" dirty="0"/>
              <a:t>CSV File Path Failure</a:t>
            </a:r>
          </a:p>
          <a:p>
            <a:pPr marL="285750" indent="-285750">
              <a:buFontTx/>
              <a:buChar char="-"/>
            </a:pPr>
            <a:r>
              <a:rPr lang="en-US" dirty="0"/>
              <a:t>This is a built-in failure to ensure that file paths are correct for the user. The “filler file path” currently in use in the </a:t>
            </a:r>
            <a:r>
              <a:rPr lang="en-US" i="1" dirty="0"/>
              <a:t>auto_convert2pptx.py </a:t>
            </a:r>
            <a:r>
              <a:rPr lang="en-US" dirty="0"/>
              <a:t>is meant to be replaced by the file path by the user.</a:t>
            </a:r>
          </a:p>
          <a:p>
            <a:pPr marL="742950" lvl="1" indent="-285750">
              <a:buFontTx/>
              <a:buChar char="-"/>
            </a:pPr>
            <a:r>
              <a:rPr lang="en-US" dirty="0"/>
              <a:t>To replace this file path, open </a:t>
            </a:r>
            <a:r>
              <a:rPr lang="en-US" i="1" dirty="0"/>
              <a:t>auto_convert2pptx.py </a:t>
            </a:r>
            <a:r>
              <a:rPr lang="en-US" dirty="0"/>
              <a:t>in Notepad. </a:t>
            </a:r>
          </a:p>
          <a:p>
            <a:pPr marL="742950" lvl="1" indent="-285750">
              <a:buFontTx/>
              <a:buChar char="-"/>
            </a:pPr>
            <a:r>
              <a:rPr lang="en-US" dirty="0"/>
              <a:t>Then CTRL+F to find # CHANGE ME” to find the original CSV_PATH to replace.</a:t>
            </a:r>
          </a:p>
          <a:p>
            <a:pPr marL="742950" lvl="1" indent="-285750">
              <a:buFontTx/>
              <a:buChar char="-"/>
            </a:pPr>
            <a:r>
              <a:rPr lang="en-US" dirty="0"/>
              <a:t>Replace “</a:t>
            </a:r>
            <a:r>
              <a:rPr lang="en-US" i="1" u="sng" dirty="0"/>
              <a:t>test_batch.csv</a:t>
            </a:r>
            <a:r>
              <a:rPr lang="en-US" i="1" dirty="0"/>
              <a:t>” </a:t>
            </a:r>
            <a:r>
              <a:rPr lang="en-US" dirty="0"/>
              <a:t>with the name and “.csv” extension of your desired file.</a:t>
            </a:r>
          </a:p>
        </p:txBody>
      </p:sp>
      <p:sp>
        <p:nvSpPr>
          <p:cNvPr id="7" name="TextBox 6">
            <a:extLst>
              <a:ext uri="{FF2B5EF4-FFF2-40B4-BE49-F238E27FC236}">
                <a16:creationId xmlns:a16="http://schemas.microsoft.com/office/drawing/2014/main" id="{8C5E0F4C-4031-F3FA-D957-92771F009567}"/>
              </a:ext>
            </a:extLst>
          </p:cNvPr>
          <p:cNvSpPr txBox="1"/>
          <p:nvPr/>
        </p:nvSpPr>
        <p:spPr>
          <a:xfrm>
            <a:off x="2448891" y="9052651"/>
            <a:ext cx="2874618" cy="369332"/>
          </a:xfrm>
          <a:prstGeom prst="rect">
            <a:avLst/>
          </a:prstGeom>
          <a:noFill/>
        </p:spPr>
        <p:txBody>
          <a:bodyPr wrap="square">
            <a:spAutoFit/>
          </a:bodyPr>
          <a:lstStyle/>
          <a:p>
            <a:r>
              <a:rPr lang="en-US" b="1" dirty="0"/>
              <a:t>Continue to next page </a:t>
            </a:r>
            <a:r>
              <a:rPr lang="en-US" b="1" dirty="0">
                <a:sym typeface="Wingdings" panose="05000000000000000000" pitchFamily="2" charset="2"/>
              </a:rPr>
              <a:t></a:t>
            </a:r>
            <a:endParaRPr lang="en-US" b="1" dirty="0"/>
          </a:p>
        </p:txBody>
      </p:sp>
    </p:spTree>
    <p:extLst>
      <p:ext uri="{BB962C8B-B14F-4D97-AF65-F5344CB8AC3E}">
        <p14:creationId xmlns:p14="http://schemas.microsoft.com/office/powerpoint/2010/main" val="1012583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5917E-AD2A-D779-C985-1732F3B9F2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51FE74-6F7F-EF48-67C6-E23F60AAD3F7}"/>
              </a:ext>
            </a:extLst>
          </p:cNvPr>
          <p:cNvSpPr txBox="1"/>
          <p:nvPr/>
        </p:nvSpPr>
        <p:spPr>
          <a:xfrm>
            <a:off x="0" y="253218"/>
            <a:ext cx="7772400" cy="646331"/>
          </a:xfrm>
          <a:prstGeom prst="rect">
            <a:avLst/>
          </a:prstGeom>
          <a:noFill/>
        </p:spPr>
        <p:txBody>
          <a:bodyPr wrap="square" rtlCol="0">
            <a:spAutoFit/>
          </a:bodyPr>
          <a:lstStyle/>
          <a:p>
            <a:pPr algn="ctr"/>
            <a:r>
              <a:rPr lang="en-US" sz="3600" dirty="0"/>
              <a:t>Troubleshooting</a:t>
            </a:r>
          </a:p>
        </p:txBody>
      </p:sp>
      <p:sp>
        <p:nvSpPr>
          <p:cNvPr id="3" name="Slide Number Placeholder 2">
            <a:extLst>
              <a:ext uri="{FF2B5EF4-FFF2-40B4-BE49-F238E27FC236}">
                <a16:creationId xmlns:a16="http://schemas.microsoft.com/office/drawing/2014/main" id="{62597FC1-1056-31FC-8484-D119B326EFA7}"/>
              </a:ext>
            </a:extLst>
          </p:cNvPr>
          <p:cNvSpPr>
            <a:spLocks noGrp="1"/>
          </p:cNvSpPr>
          <p:nvPr>
            <p:ph type="sldNum" sz="quarter" idx="12"/>
          </p:nvPr>
        </p:nvSpPr>
        <p:spPr/>
        <p:txBody>
          <a:bodyPr/>
          <a:lstStyle/>
          <a:p>
            <a:fld id="{3DE2C916-6F1E-4075-B034-0F55610526B3}" type="slidenum">
              <a:rPr lang="en-US" smtClean="0"/>
              <a:t>23</a:t>
            </a:fld>
            <a:endParaRPr lang="en-US"/>
          </a:p>
        </p:txBody>
      </p:sp>
      <p:sp>
        <p:nvSpPr>
          <p:cNvPr id="12" name="TextBox 11">
            <a:extLst>
              <a:ext uri="{FF2B5EF4-FFF2-40B4-BE49-F238E27FC236}">
                <a16:creationId xmlns:a16="http://schemas.microsoft.com/office/drawing/2014/main" id="{5ECB5DCB-C6FB-FDA3-A01F-7B9430A9EAD8}"/>
              </a:ext>
            </a:extLst>
          </p:cNvPr>
          <p:cNvSpPr txBox="1"/>
          <p:nvPr/>
        </p:nvSpPr>
        <p:spPr>
          <a:xfrm>
            <a:off x="371719" y="899549"/>
            <a:ext cx="7028962" cy="1754326"/>
          </a:xfrm>
          <a:prstGeom prst="rect">
            <a:avLst/>
          </a:prstGeom>
          <a:noFill/>
        </p:spPr>
        <p:txBody>
          <a:bodyPr wrap="square" rtlCol="0">
            <a:spAutoFit/>
          </a:bodyPr>
          <a:lstStyle/>
          <a:p>
            <a:r>
              <a:rPr lang="en-US" b="1" u="sng" dirty="0"/>
              <a:t>CSV File Path Failure (Continued)</a:t>
            </a:r>
          </a:p>
          <a:p>
            <a:r>
              <a:rPr lang="en-US" dirty="0"/>
              <a:t>	In the off chance the CSV being used for processing does not contain the file path, Download the script below to generate another CSV of the files your desired SOP Folder. Then you’ll need to manipulate the content of the new CSV to be “filtered”/parsed down to only the files and file paths needed from your original CSV.</a:t>
            </a:r>
          </a:p>
        </p:txBody>
      </p:sp>
      <p:pic>
        <p:nvPicPr>
          <p:cNvPr id="5" name="Graphic 4">
            <a:hlinkClick r:id="rId2"/>
            <a:extLst>
              <a:ext uri="{FF2B5EF4-FFF2-40B4-BE49-F238E27FC236}">
                <a16:creationId xmlns:a16="http://schemas.microsoft.com/office/drawing/2014/main" id="{626F35C8-1AAB-6D8D-A5E1-11AD32616A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5600" y="2653875"/>
            <a:ext cx="1981199" cy="1981199"/>
          </a:xfrm>
          <a:prstGeom prst="rect">
            <a:avLst/>
          </a:prstGeom>
        </p:spPr>
      </p:pic>
      <p:sp>
        <p:nvSpPr>
          <p:cNvPr id="6" name="TextBox 5">
            <a:extLst>
              <a:ext uri="{FF2B5EF4-FFF2-40B4-BE49-F238E27FC236}">
                <a16:creationId xmlns:a16="http://schemas.microsoft.com/office/drawing/2014/main" id="{3C8E7A4D-F972-0C24-65E9-898719A2D038}"/>
              </a:ext>
            </a:extLst>
          </p:cNvPr>
          <p:cNvSpPr txBox="1"/>
          <p:nvPr/>
        </p:nvSpPr>
        <p:spPr>
          <a:xfrm>
            <a:off x="209086" y="4546164"/>
            <a:ext cx="7028962" cy="1200329"/>
          </a:xfrm>
          <a:prstGeom prst="rect">
            <a:avLst/>
          </a:prstGeom>
          <a:noFill/>
        </p:spPr>
        <p:txBody>
          <a:bodyPr wrap="square" rtlCol="0">
            <a:spAutoFit/>
          </a:bodyPr>
          <a:lstStyle/>
          <a:p>
            <a:r>
              <a:rPr lang="en-US" b="1" u="sng" dirty="0">
                <a:solidFill>
                  <a:srgbClr val="FF0000"/>
                </a:solidFill>
              </a:rPr>
              <a:t>Contact Dante for Support</a:t>
            </a:r>
          </a:p>
          <a:p>
            <a:r>
              <a:rPr lang="en-US" dirty="0"/>
              <a:t>	If this document was completely useless in setup and troubleshooting, send me a message or give me a call and I’ll do my best to get everything sorted out with you.</a:t>
            </a:r>
          </a:p>
        </p:txBody>
      </p:sp>
    </p:spTree>
    <p:extLst>
      <p:ext uri="{BB962C8B-B14F-4D97-AF65-F5344CB8AC3E}">
        <p14:creationId xmlns:p14="http://schemas.microsoft.com/office/powerpoint/2010/main" val="2039816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3C6FA-D7CE-ACB1-A747-A9E70C9A64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64754D-7E33-F854-738B-DA20D3FDFB16}"/>
              </a:ext>
            </a:extLst>
          </p:cNvPr>
          <p:cNvSpPr txBox="1"/>
          <p:nvPr/>
        </p:nvSpPr>
        <p:spPr>
          <a:xfrm>
            <a:off x="0" y="253218"/>
            <a:ext cx="7772400" cy="646331"/>
          </a:xfrm>
          <a:prstGeom prst="rect">
            <a:avLst/>
          </a:prstGeom>
          <a:noFill/>
        </p:spPr>
        <p:txBody>
          <a:bodyPr wrap="square" rtlCol="0">
            <a:spAutoFit/>
          </a:bodyPr>
          <a:lstStyle/>
          <a:p>
            <a:pPr algn="ctr"/>
            <a:r>
              <a:rPr lang="en-US" sz="3600" dirty="0"/>
              <a:t>Changelog</a:t>
            </a:r>
          </a:p>
        </p:txBody>
      </p:sp>
      <p:sp>
        <p:nvSpPr>
          <p:cNvPr id="3" name="Slide Number Placeholder 2">
            <a:extLst>
              <a:ext uri="{FF2B5EF4-FFF2-40B4-BE49-F238E27FC236}">
                <a16:creationId xmlns:a16="http://schemas.microsoft.com/office/drawing/2014/main" id="{8A3AF743-8F1E-653C-1482-EFEE8B3B6C17}"/>
              </a:ext>
            </a:extLst>
          </p:cNvPr>
          <p:cNvSpPr>
            <a:spLocks noGrp="1"/>
          </p:cNvSpPr>
          <p:nvPr>
            <p:ph type="sldNum" sz="quarter" idx="12"/>
          </p:nvPr>
        </p:nvSpPr>
        <p:spPr/>
        <p:txBody>
          <a:bodyPr/>
          <a:lstStyle/>
          <a:p>
            <a:fld id="{3DE2C916-6F1E-4075-B034-0F55610526B3}" type="slidenum">
              <a:rPr lang="en-US" smtClean="0"/>
              <a:t>24</a:t>
            </a:fld>
            <a:endParaRPr lang="en-US"/>
          </a:p>
        </p:txBody>
      </p:sp>
      <p:graphicFrame>
        <p:nvGraphicFramePr>
          <p:cNvPr id="4" name="Table 3">
            <a:extLst>
              <a:ext uri="{FF2B5EF4-FFF2-40B4-BE49-F238E27FC236}">
                <a16:creationId xmlns:a16="http://schemas.microsoft.com/office/drawing/2014/main" id="{9C58F4ED-2907-D41B-7B78-44FB65B4061A}"/>
              </a:ext>
            </a:extLst>
          </p:cNvPr>
          <p:cNvGraphicFramePr>
            <a:graphicFrameLocks noGrp="1"/>
          </p:cNvGraphicFramePr>
          <p:nvPr>
            <p:extLst>
              <p:ext uri="{D42A27DB-BD31-4B8C-83A1-F6EECF244321}">
                <p14:modId xmlns:p14="http://schemas.microsoft.com/office/powerpoint/2010/main" val="2769050659"/>
              </p:ext>
            </p:extLst>
          </p:nvPr>
        </p:nvGraphicFramePr>
        <p:xfrm>
          <a:off x="307657" y="1042127"/>
          <a:ext cx="7138170" cy="7570525"/>
        </p:xfrm>
        <a:graphic>
          <a:graphicData uri="http://schemas.openxmlformats.org/drawingml/2006/table">
            <a:tbl>
              <a:tblPr firstRow="1" bandRow="1">
                <a:tableStyleId>{D7AC3CCA-C797-4891-BE02-D94E43425B78}</a:tableStyleId>
              </a:tblPr>
              <a:tblGrid>
                <a:gridCol w="5100366">
                  <a:extLst>
                    <a:ext uri="{9D8B030D-6E8A-4147-A177-3AD203B41FA5}">
                      <a16:colId xmlns:a16="http://schemas.microsoft.com/office/drawing/2014/main" val="3175291294"/>
                    </a:ext>
                  </a:extLst>
                </a:gridCol>
                <a:gridCol w="888274">
                  <a:extLst>
                    <a:ext uri="{9D8B030D-6E8A-4147-A177-3AD203B41FA5}">
                      <a16:colId xmlns:a16="http://schemas.microsoft.com/office/drawing/2014/main" val="2847686979"/>
                    </a:ext>
                  </a:extLst>
                </a:gridCol>
                <a:gridCol w="1149530">
                  <a:extLst>
                    <a:ext uri="{9D8B030D-6E8A-4147-A177-3AD203B41FA5}">
                      <a16:colId xmlns:a16="http://schemas.microsoft.com/office/drawing/2014/main" val="2526926262"/>
                    </a:ext>
                  </a:extLst>
                </a:gridCol>
              </a:tblGrid>
              <a:tr h="602597">
                <a:tc>
                  <a:txBody>
                    <a:bodyPr/>
                    <a:lstStyle/>
                    <a:p>
                      <a:pPr algn="ctr"/>
                      <a:r>
                        <a:rPr lang="en-US" sz="1800" dirty="0"/>
                        <a:t>Change Description</a:t>
                      </a:r>
                    </a:p>
                  </a:txBody>
                  <a:tcPr anchor="ctr"/>
                </a:tc>
                <a:tc>
                  <a:txBody>
                    <a:bodyPr/>
                    <a:lstStyle/>
                    <a:p>
                      <a:pPr algn="ctr"/>
                      <a:r>
                        <a:rPr lang="en-US" sz="1800" dirty="0"/>
                        <a:t>Editor</a:t>
                      </a:r>
                    </a:p>
                  </a:txBody>
                  <a:tcPr anchor="ctr"/>
                </a:tc>
                <a:tc>
                  <a:txBody>
                    <a:bodyPr/>
                    <a:lstStyle/>
                    <a:p>
                      <a:pPr algn="ctr"/>
                      <a:r>
                        <a:rPr lang="en-US" sz="1800" dirty="0"/>
                        <a:t>Date</a:t>
                      </a:r>
                    </a:p>
                  </a:txBody>
                  <a:tcPr anchor="ctr"/>
                </a:tc>
                <a:extLst>
                  <a:ext uri="{0D108BD9-81ED-4DB2-BD59-A6C34878D82A}">
                    <a16:rowId xmlns:a16="http://schemas.microsoft.com/office/drawing/2014/main" val="4117060816"/>
                  </a:ext>
                </a:extLst>
              </a:tr>
              <a:tr h="400634">
                <a:tc>
                  <a:txBody>
                    <a:bodyPr/>
                    <a:lstStyle/>
                    <a:p>
                      <a:pPr algn="ctr"/>
                      <a:r>
                        <a:rPr lang="en-US" dirty="0"/>
                        <a:t>Initial Release</a:t>
                      </a:r>
                    </a:p>
                  </a:txBody>
                  <a:tcPr anchor="ctr"/>
                </a:tc>
                <a:tc>
                  <a:txBody>
                    <a:bodyPr/>
                    <a:lstStyle/>
                    <a:p>
                      <a:pPr algn="ctr"/>
                      <a:r>
                        <a:rPr lang="en-US" dirty="0"/>
                        <a:t>DTS</a:t>
                      </a:r>
                    </a:p>
                  </a:txBody>
                  <a:tcPr anchor="ctr"/>
                </a:tc>
                <a:tc>
                  <a:txBody>
                    <a:bodyPr/>
                    <a:lstStyle/>
                    <a:p>
                      <a:pPr algn="ctr"/>
                      <a:r>
                        <a:rPr lang="en-US" dirty="0"/>
                        <a:t>5/22/2026</a:t>
                      </a:r>
                    </a:p>
                  </a:txBody>
                  <a:tcPr anchor="ctr"/>
                </a:tc>
                <a:extLst>
                  <a:ext uri="{0D108BD9-81ED-4DB2-BD59-A6C34878D82A}">
                    <a16:rowId xmlns:a16="http://schemas.microsoft.com/office/drawing/2014/main" val="1840846740"/>
                  </a:ext>
                </a:extLst>
              </a:tr>
              <a:tr h="400634">
                <a:tc>
                  <a:txBody>
                    <a:bodyPr/>
                    <a:lstStyle/>
                    <a:p>
                      <a:pPr algn="ctr"/>
                      <a:r>
                        <a:rPr lang="en-US" i="0" dirty="0"/>
                        <a:t>Fixed </a:t>
                      </a:r>
                      <a:r>
                        <a:rPr lang="en-US" i="1" dirty="0"/>
                        <a:t>CONV2PPTX.ZIP</a:t>
                      </a:r>
                      <a:r>
                        <a:rPr lang="en-US" i="0" dirty="0"/>
                        <a:t> link download issue</a:t>
                      </a:r>
                      <a:endParaRPr lang="en-US" dirty="0"/>
                    </a:p>
                  </a:txBody>
                  <a:tcPr anchor="ctr"/>
                </a:tc>
                <a:tc>
                  <a:txBody>
                    <a:bodyPr/>
                    <a:lstStyle/>
                    <a:p>
                      <a:pPr algn="ctr"/>
                      <a:r>
                        <a:rPr lang="en-US" dirty="0"/>
                        <a:t>DTS</a:t>
                      </a:r>
                    </a:p>
                  </a:txBody>
                  <a:tcPr anchor="ctr"/>
                </a:tc>
                <a:tc>
                  <a:txBody>
                    <a:bodyPr/>
                    <a:lstStyle/>
                    <a:p>
                      <a:pPr algn="ctr"/>
                      <a:r>
                        <a:rPr lang="en-US" dirty="0"/>
                        <a:t>5/28/2026</a:t>
                      </a:r>
                    </a:p>
                  </a:txBody>
                  <a:tcPr anchor="ctr"/>
                </a:tc>
                <a:extLst>
                  <a:ext uri="{0D108BD9-81ED-4DB2-BD59-A6C34878D82A}">
                    <a16:rowId xmlns:a16="http://schemas.microsoft.com/office/drawing/2014/main" val="365746558"/>
                  </a:ext>
                </a:extLst>
              </a:tr>
              <a:tr h="400634">
                <a:tc>
                  <a:txBody>
                    <a:bodyPr/>
                    <a:lstStyle/>
                    <a:p>
                      <a:pPr algn="ctr"/>
                      <a:r>
                        <a:rPr lang="en-US" dirty="0"/>
                        <a:t>Updated </a:t>
                      </a:r>
                      <a:r>
                        <a:rPr lang="en-US" i="1" dirty="0"/>
                        <a:t>manual, auto, </a:t>
                      </a:r>
                      <a:r>
                        <a:rPr lang="en-US" i="0" dirty="0"/>
                        <a:t>and </a:t>
                      </a:r>
                      <a:r>
                        <a:rPr lang="en-US" i="1" dirty="0"/>
                        <a:t>test </a:t>
                      </a:r>
                      <a:r>
                        <a:rPr lang="en-US" i="0" dirty="0"/>
                        <a:t>variants of the script for enhanced logic for processing.</a:t>
                      </a:r>
                      <a:endParaRPr lang="en-US" dirty="0"/>
                    </a:p>
                  </a:txBody>
                  <a:tcPr anchor="ctr"/>
                </a:tc>
                <a:tc>
                  <a:txBody>
                    <a:bodyPr/>
                    <a:lstStyle/>
                    <a:p>
                      <a:pPr algn="ctr"/>
                      <a:r>
                        <a:rPr lang="en-US" dirty="0"/>
                        <a:t>DTS</a:t>
                      </a:r>
                    </a:p>
                  </a:txBody>
                  <a:tcPr anchor="ctr"/>
                </a:tc>
                <a:tc>
                  <a:txBody>
                    <a:bodyPr/>
                    <a:lstStyle/>
                    <a:p>
                      <a:pPr algn="ctr"/>
                      <a:r>
                        <a:rPr lang="en-US" dirty="0"/>
                        <a:t>6/4/2026</a:t>
                      </a:r>
                    </a:p>
                  </a:txBody>
                  <a:tcPr anchor="ctr"/>
                </a:tc>
                <a:extLst>
                  <a:ext uri="{0D108BD9-81ED-4DB2-BD59-A6C34878D82A}">
                    <a16:rowId xmlns:a16="http://schemas.microsoft.com/office/drawing/2014/main" val="2743520595"/>
                  </a:ext>
                </a:extLst>
              </a:tr>
              <a:tr h="400634">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105789711"/>
                  </a:ext>
                </a:extLst>
              </a:tr>
              <a:tr h="400634">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455181052"/>
                  </a:ext>
                </a:extLst>
              </a:tr>
              <a:tr h="400634">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044628397"/>
                  </a:ext>
                </a:extLst>
              </a:tr>
              <a:tr h="400634">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001675726"/>
                  </a:ext>
                </a:extLst>
              </a:tr>
              <a:tr h="400634">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608884905"/>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992882714"/>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0055303"/>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05771593"/>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367904644"/>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401140190"/>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213011902"/>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81624561"/>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749057852"/>
                  </a:ext>
                </a:extLst>
              </a:tr>
              <a:tr h="400634">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1389534"/>
                  </a:ext>
                </a:extLst>
              </a:tr>
            </a:tbl>
          </a:graphicData>
        </a:graphic>
      </p:graphicFrame>
    </p:spTree>
    <p:extLst>
      <p:ext uri="{BB962C8B-B14F-4D97-AF65-F5344CB8AC3E}">
        <p14:creationId xmlns:p14="http://schemas.microsoft.com/office/powerpoint/2010/main" val="5997459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ub-Pow Template" id="{5152DC23-776D-42B8-9391-3A26A88ADDBF}" vid="{53BB6E6F-A721-46C9-9A48-DEE64B65DB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orAreaofInterest xmlns="310e4499-19d2-41f6-ae8a-c978ecf656f3" xsi:nil="true"/>
    <TaxCatchAll xmlns="1514e684-274f-4d42-b80b-0982ac31fe15" xsi:nil="true"/>
    <ItemID xmlns="310e4499-19d2-41f6-ae8a-c978ecf656f3" xsi:nil="true"/>
    <lcf76f155ced4ddcb4097134ff3c332f xmlns="310e4499-19d2-41f6-ae8a-c978ecf656f3">
      <Terms xmlns="http://schemas.microsoft.com/office/infopath/2007/PartnerControls"/>
    </lcf76f155ced4ddcb4097134ff3c332f>
    <ScribeCatagory xmlns="310e4499-19d2-41f6-ae8a-c978ecf656f3">Generic</ScribeCatagor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9B1D47496776408B4F68690B6B80B5" ma:contentTypeVersion="20" ma:contentTypeDescription="Create a new document." ma:contentTypeScope="" ma:versionID="99d05090069ff3a004ce8e042a8bd423">
  <xsd:schema xmlns:xsd="http://www.w3.org/2001/XMLSchema" xmlns:xs="http://www.w3.org/2001/XMLSchema" xmlns:p="http://schemas.microsoft.com/office/2006/metadata/properties" xmlns:ns2="310e4499-19d2-41f6-ae8a-c978ecf656f3" xmlns:ns3="1514e684-274f-4d42-b80b-0982ac31fe15" targetNamespace="http://schemas.microsoft.com/office/2006/metadata/properties" ma:root="true" ma:fieldsID="6717c0792b92520931fe1930b721c82c" ns2:_="" ns3:_="">
    <xsd:import namespace="310e4499-19d2-41f6-ae8a-c978ecf656f3"/>
    <xsd:import namespace="1514e684-274f-4d42-b80b-0982ac31fe1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ScribeCatagory" minOccurs="0"/>
                <xsd:element ref="ns2:DescriptionorAreaofInterest" minOccurs="0"/>
                <xsd:element ref="ns2:MediaServiceSearchProperties" minOccurs="0"/>
                <xsd:element ref="ns2:MediaServiceBillingMetadata" minOccurs="0"/>
                <xsd:element ref="ns2:Item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0e4499-19d2-41f6-ae8a-c978ecf656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2d5b4fa-74aa-44a0-9f39-8fc154ca47c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ScribeCatagory" ma:index="22" nillable="true" ma:displayName="Category" ma:default="Generic" ma:description="Different areas which scribes are useful for." ma:format="Dropdown" ma:internalName="ScribeCatagory">
      <xsd:simpleType>
        <xsd:restriction base="dms:Text">
          <xsd:maxLength value="255"/>
        </xsd:restriction>
      </xsd:simpleType>
    </xsd:element>
    <xsd:element name="DescriptionorAreaofInterest" ma:index="23" nillable="true" ma:displayName="topics" ma:format="Dropdown" ma:internalName="DescriptionorAreaofInterest">
      <xsd:simpleType>
        <xsd:restriction base="dms:Note">
          <xsd:maxLength value="255"/>
        </xsd:restrictio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ItemID" ma:index="26" nillable="true" ma:displayName="Item ID" ma:description="This is the matching Item ID for the folder to the PMR in Monday.com" ma:format="Dropdown" ma:internalName="ItemI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514e684-274f-4d42-b80b-0982ac31fe1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b56a5ab-966a-4779-9006-d036bd9129ea}" ma:internalName="TaxCatchAll" ma:showField="CatchAllData" ma:web="1514e684-274f-4d42-b80b-0982ac31fe15">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72BDB-35AF-4EA2-B2ED-2F97ED476F0D}">
  <ds:schemaRefs>
    <ds:schemaRef ds:uri="http://purl.org/dc/elements/1.1/"/>
    <ds:schemaRef ds:uri="http://schemas.microsoft.com/office/2006/documentManagement/types"/>
    <ds:schemaRef ds:uri="310e4499-19d2-41f6-ae8a-c978ecf656f3"/>
    <ds:schemaRef ds:uri="http://schemas.microsoft.com/office/infopath/2007/PartnerControls"/>
    <ds:schemaRef ds:uri="1514e684-274f-4d42-b80b-0982ac31fe15"/>
    <ds:schemaRef ds:uri="http://www.w3.org/XML/1998/namespace"/>
    <ds:schemaRef ds:uri="http://schemas.microsoft.com/office/2006/metadata/properties"/>
    <ds:schemaRef ds:uri="http://schemas.openxmlformats.org/package/2006/metadata/core-properties"/>
    <ds:schemaRef ds:uri="http://purl.org/dc/terms/"/>
    <ds:schemaRef ds:uri="http://purl.org/dc/dcmitype/"/>
  </ds:schemaRefs>
</ds:datastoreItem>
</file>

<file path=customXml/itemProps2.xml><?xml version="1.0" encoding="utf-8"?>
<ds:datastoreItem xmlns:ds="http://schemas.openxmlformats.org/officeDocument/2006/customXml" ds:itemID="{219F8D41-C588-460C-B494-E6AE90453A6C}">
  <ds:schemaRefs>
    <ds:schemaRef ds:uri="http://schemas.microsoft.com/sharepoint/v3/contenttype/forms"/>
  </ds:schemaRefs>
</ds:datastoreItem>
</file>

<file path=customXml/itemProps3.xml><?xml version="1.0" encoding="utf-8"?>
<ds:datastoreItem xmlns:ds="http://schemas.openxmlformats.org/officeDocument/2006/customXml" ds:itemID="{6276110D-291E-4AB6-89BB-5EC82A7BD3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0e4499-19d2-41f6-ae8a-c978ecf656f3"/>
    <ds:schemaRef ds:uri="1514e684-274f-4d42-b80b-0982ac31fe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Pub-Pow Template</Template>
  <TotalTime>999</TotalTime>
  <Words>2017</Words>
  <Application>Microsoft Office PowerPoint</Application>
  <PresentationFormat>Custom</PresentationFormat>
  <Paragraphs>160</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Tahoma</vt:lpstr>
      <vt:lpstr>Trade Gothic Next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Dante Siracusa</dc:creator>
  <cp:lastModifiedBy>Dante Siracusa</cp:lastModifiedBy>
  <cp:revision>25</cp:revision>
  <dcterms:created xsi:type="dcterms:W3CDTF">2026-05-07T12:42:27Z</dcterms:created>
  <dcterms:modified xsi:type="dcterms:W3CDTF">2026-06-16T12:49:07Z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0x0101002D9B1D47496776408B4F68690B6B80B5</vt:lpwstr>
  </property>
  <property fmtid="{D5CDD505-2E9C-101B-9397-08002B2CF9AE}" pid="3" name="MediaServiceImageTags">
    <vt:lpwstr/>
  </property>
</Properties>
</file>